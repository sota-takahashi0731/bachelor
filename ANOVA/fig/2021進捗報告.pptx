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77" r:id="rId4"/>
    <p:sldId id="278" r:id="rId5"/>
    <p:sldId id="258" r:id="rId6"/>
    <p:sldId id="259" r:id="rId7"/>
    <p:sldId id="260" r:id="rId8"/>
    <p:sldId id="262" r:id="rId9"/>
    <p:sldId id="263" r:id="rId10"/>
    <p:sldId id="264" r:id="rId11"/>
    <p:sldId id="266" r:id="rId12"/>
    <p:sldId id="265" r:id="rId13"/>
    <p:sldId id="267" r:id="rId14"/>
    <p:sldId id="268" r:id="rId15"/>
    <p:sldId id="269" r:id="rId16"/>
    <p:sldId id="270" r:id="rId17"/>
    <p:sldId id="272" r:id="rId18"/>
    <p:sldId id="271" r:id="rId19"/>
    <p:sldId id="274" r:id="rId20"/>
    <p:sldId id="275" r:id="rId21"/>
    <p:sldId id="276"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78"/>
    <p:restoredTop sz="94635"/>
  </p:normalViewPr>
  <p:slideViewPr>
    <p:cSldViewPr snapToGrid="0" snapToObjects="1">
      <p:cViewPr>
        <p:scale>
          <a:sx n="110" d="100"/>
          <a:sy n="110" d="100"/>
        </p:scale>
        <p:origin x="33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E0CA13DE-AEEE-6D44-90B4-1CF76A92B7BF}" type="datetimeFigureOut">
              <a:rPr kumimoji="1" lang="ja-JP" altLang="en-US" smtClean="0"/>
              <a:t>2021/1/6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5872557-5343-FD41-AB7B-89A8F72EF5DB}" type="slidenum">
              <a:rPr kumimoji="1" lang="ja-JP" altLang="en-US" smtClean="0"/>
              <a:t>‹#›</a:t>
            </a:fld>
            <a:endParaRPr kumimoji="1" lang="ja-JP" altLang="en-US"/>
          </a:p>
        </p:txBody>
      </p:sp>
    </p:spTree>
    <p:extLst>
      <p:ext uri="{BB962C8B-B14F-4D97-AF65-F5344CB8AC3E}">
        <p14:creationId xmlns:p14="http://schemas.microsoft.com/office/powerpoint/2010/main" val="1635264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0CA13DE-AEEE-6D44-90B4-1CF76A92B7BF}" type="datetimeFigureOut">
              <a:rPr kumimoji="1" lang="ja-JP" altLang="en-US" smtClean="0"/>
              <a:t>2021/1/6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5872557-5343-FD41-AB7B-89A8F72EF5DB}" type="slidenum">
              <a:rPr kumimoji="1" lang="ja-JP" altLang="en-US" smtClean="0"/>
              <a:t>‹#›</a:t>
            </a:fld>
            <a:endParaRPr kumimoji="1" lang="ja-JP" altLang="en-US"/>
          </a:p>
        </p:txBody>
      </p:sp>
    </p:spTree>
    <p:extLst>
      <p:ext uri="{BB962C8B-B14F-4D97-AF65-F5344CB8AC3E}">
        <p14:creationId xmlns:p14="http://schemas.microsoft.com/office/powerpoint/2010/main" val="3918870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0CA13DE-AEEE-6D44-90B4-1CF76A92B7BF}" type="datetimeFigureOut">
              <a:rPr kumimoji="1" lang="ja-JP" altLang="en-US" smtClean="0"/>
              <a:t>2021/1/6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5872557-5343-FD41-AB7B-89A8F72EF5DB}" type="slidenum">
              <a:rPr kumimoji="1" lang="ja-JP" altLang="en-US" smtClean="0"/>
              <a:t>‹#›</a:t>
            </a:fld>
            <a:endParaRPr kumimoji="1" lang="ja-JP" altLang="en-US"/>
          </a:p>
        </p:txBody>
      </p:sp>
    </p:spTree>
    <p:extLst>
      <p:ext uri="{BB962C8B-B14F-4D97-AF65-F5344CB8AC3E}">
        <p14:creationId xmlns:p14="http://schemas.microsoft.com/office/powerpoint/2010/main" val="2544113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262890" y="1242379"/>
            <a:ext cx="4251960" cy="49345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242379"/>
            <a:ext cx="4331970" cy="49345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0CA13DE-AEEE-6D44-90B4-1CF76A92B7BF}" type="datetimeFigureOut">
              <a:rPr kumimoji="1" lang="ja-JP" altLang="en-US" smtClean="0"/>
              <a:t>2021/1/6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5872557-5343-FD41-AB7B-89A8F72EF5DB}" type="slidenum">
              <a:rPr kumimoji="1" lang="ja-JP" altLang="en-US" smtClean="0"/>
              <a:t>‹#›</a:t>
            </a:fld>
            <a:endParaRPr kumimoji="1" lang="ja-JP" altLang="en-US"/>
          </a:p>
        </p:txBody>
      </p:sp>
    </p:spTree>
    <p:extLst>
      <p:ext uri="{BB962C8B-B14F-4D97-AF65-F5344CB8AC3E}">
        <p14:creationId xmlns:p14="http://schemas.microsoft.com/office/powerpoint/2010/main" val="507285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E0CA13DE-AEEE-6D44-90B4-1CF76A92B7BF}" type="datetimeFigureOut">
              <a:rPr kumimoji="1" lang="ja-JP" altLang="en-US" smtClean="0"/>
              <a:t>2021/1/6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75872557-5343-FD41-AB7B-89A8F72EF5DB}" type="slidenum">
              <a:rPr kumimoji="1" lang="ja-JP" altLang="en-US" smtClean="0"/>
              <a:t>‹#›</a:t>
            </a:fld>
            <a:endParaRPr kumimoji="1" lang="ja-JP" altLang="en-US"/>
          </a:p>
        </p:txBody>
      </p:sp>
    </p:spTree>
    <p:extLst>
      <p:ext uri="{BB962C8B-B14F-4D97-AF65-F5344CB8AC3E}">
        <p14:creationId xmlns:p14="http://schemas.microsoft.com/office/powerpoint/2010/main" val="1688889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E0CA13DE-AEEE-6D44-90B4-1CF76A92B7BF}" type="datetimeFigureOut">
              <a:rPr kumimoji="1" lang="ja-JP" altLang="en-US" smtClean="0"/>
              <a:t>2021/1/6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5872557-5343-FD41-AB7B-89A8F72EF5DB}" type="slidenum">
              <a:rPr kumimoji="1" lang="ja-JP" altLang="en-US" smtClean="0"/>
              <a:t>‹#›</a:t>
            </a:fld>
            <a:endParaRPr kumimoji="1" lang="ja-JP" altLang="en-US"/>
          </a:p>
        </p:txBody>
      </p:sp>
    </p:spTree>
    <p:extLst>
      <p:ext uri="{BB962C8B-B14F-4D97-AF65-F5344CB8AC3E}">
        <p14:creationId xmlns:p14="http://schemas.microsoft.com/office/powerpoint/2010/main" val="484445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CA13DE-AEEE-6D44-90B4-1CF76A92B7BF}" type="datetimeFigureOut">
              <a:rPr kumimoji="1" lang="ja-JP" altLang="en-US" smtClean="0"/>
              <a:t>2021/1/6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75872557-5343-FD41-AB7B-89A8F72EF5DB}" type="slidenum">
              <a:rPr kumimoji="1" lang="ja-JP" altLang="en-US" smtClean="0"/>
              <a:t>‹#›</a:t>
            </a:fld>
            <a:endParaRPr kumimoji="1" lang="ja-JP" altLang="en-US"/>
          </a:p>
        </p:txBody>
      </p:sp>
    </p:spTree>
    <p:extLst>
      <p:ext uri="{BB962C8B-B14F-4D97-AF65-F5344CB8AC3E}">
        <p14:creationId xmlns:p14="http://schemas.microsoft.com/office/powerpoint/2010/main" val="2240994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0CA13DE-AEEE-6D44-90B4-1CF76A92B7BF}" type="datetimeFigureOut">
              <a:rPr kumimoji="1" lang="ja-JP" altLang="en-US" smtClean="0"/>
              <a:t>2021/1/6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5872557-5343-FD41-AB7B-89A8F72EF5DB}" type="slidenum">
              <a:rPr kumimoji="1" lang="ja-JP" altLang="en-US" smtClean="0"/>
              <a:t>‹#›</a:t>
            </a:fld>
            <a:endParaRPr kumimoji="1" lang="ja-JP" altLang="en-US"/>
          </a:p>
        </p:txBody>
      </p:sp>
    </p:spTree>
    <p:extLst>
      <p:ext uri="{BB962C8B-B14F-4D97-AF65-F5344CB8AC3E}">
        <p14:creationId xmlns:p14="http://schemas.microsoft.com/office/powerpoint/2010/main" val="332193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0CA13DE-AEEE-6D44-90B4-1CF76A92B7BF}" type="datetimeFigureOut">
              <a:rPr kumimoji="1" lang="ja-JP" altLang="en-US" smtClean="0"/>
              <a:t>2021/1/6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5872557-5343-FD41-AB7B-89A8F72EF5DB}" type="slidenum">
              <a:rPr kumimoji="1" lang="ja-JP" altLang="en-US" smtClean="0"/>
              <a:t>‹#›</a:t>
            </a:fld>
            <a:endParaRPr kumimoji="1" lang="ja-JP" altLang="en-US"/>
          </a:p>
        </p:txBody>
      </p:sp>
    </p:spTree>
    <p:extLst>
      <p:ext uri="{BB962C8B-B14F-4D97-AF65-F5344CB8AC3E}">
        <p14:creationId xmlns:p14="http://schemas.microsoft.com/office/powerpoint/2010/main" val="4198691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0CA13DE-AEEE-6D44-90B4-1CF76A92B7BF}" type="datetimeFigureOut">
              <a:rPr kumimoji="1" lang="ja-JP" altLang="en-US" smtClean="0"/>
              <a:t>2021/1/6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5872557-5343-FD41-AB7B-89A8F72EF5DB}" type="slidenum">
              <a:rPr kumimoji="1" lang="ja-JP" altLang="en-US" smtClean="0"/>
              <a:t>‹#›</a:t>
            </a:fld>
            <a:endParaRPr kumimoji="1" lang="ja-JP" altLang="en-US"/>
          </a:p>
        </p:txBody>
      </p:sp>
    </p:spTree>
    <p:extLst>
      <p:ext uri="{BB962C8B-B14F-4D97-AF65-F5344CB8AC3E}">
        <p14:creationId xmlns:p14="http://schemas.microsoft.com/office/powerpoint/2010/main" val="1935662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0CA13DE-AEEE-6D44-90B4-1CF76A92B7BF}" type="datetimeFigureOut">
              <a:rPr kumimoji="1" lang="ja-JP" altLang="en-US" smtClean="0"/>
              <a:t>2021/1/6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5872557-5343-FD41-AB7B-89A8F72EF5DB}" type="slidenum">
              <a:rPr kumimoji="1" lang="ja-JP" altLang="en-US" smtClean="0"/>
              <a:t>‹#›</a:t>
            </a:fld>
            <a:endParaRPr kumimoji="1" lang="ja-JP" altLang="en-US"/>
          </a:p>
        </p:txBody>
      </p:sp>
    </p:spTree>
    <p:extLst>
      <p:ext uri="{BB962C8B-B14F-4D97-AF65-F5344CB8AC3E}">
        <p14:creationId xmlns:p14="http://schemas.microsoft.com/office/powerpoint/2010/main" val="1122323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2890" y="217171"/>
            <a:ext cx="8698230" cy="84582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62890" y="1188720"/>
            <a:ext cx="8698230" cy="498824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CA13DE-AEEE-6D44-90B4-1CF76A92B7BF}" type="datetimeFigureOut">
              <a:rPr kumimoji="1" lang="ja-JP" altLang="en-US" smtClean="0"/>
              <a:t>2021/1/6</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872557-5343-FD41-AB7B-89A8F72EF5DB}" type="slidenum">
              <a:rPr kumimoji="1" lang="ja-JP" altLang="en-US" smtClean="0"/>
              <a:t>‹#›</a:t>
            </a:fld>
            <a:endParaRPr kumimoji="1" lang="ja-JP" altLang="en-US"/>
          </a:p>
        </p:txBody>
      </p:sp>
    </p:spTree>
    <p:extLst>
      <p:ext uri="{BB962C8B-B14F-4D97-AF65-F5344CB8AC3E}">
        <p14:creationId xmlns:p14="http://schemas.microsoft.com/office/powerpoint/2010/main" val="3585978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41152B-33AB-C54F-9CE2-3C1C84A51DEE}"/>
              </a:ext>
            </a:extLst>
          </p:cNvPr>
          <p:cNvSpPr>
            <a:spLocks noGrp="1"/>
          </p:cNvSpPr>
          <p:nvPr>
            <p:ph type="ctrTitle"/>
          </p:nvPr>
        </p:nvSpPr>
        <p:spPr/>
        <p:txBody>
          <a:bodyPr/>
          <a:lstStyle/>
          <a:p>
            <a:r>
              <a:rPr kumimoji="1" lang="ja-JP" altLang="en-US"/>
              <a:t>進捗報告</a:t>
            </a:r>
          </a:p>
        </p:txBody>
      </p:sp>
      <p:sp>
        <p:nvSpPr>
          <p:cNvPr id="3" name="字幕 2">
            <a:extLst>
              <a:ext uri="{FF2B5EF4-FFF2-40B4-BE49-F238E27FC236}">
                <a16:creationId xmlns:a16="http://schemas.microsoft.com/office/drawing/2014/main" id="{E4332090-F70E-D649-874A-E10364D06F2F}"/>
              </a:ext>
            </a:extLst>
          </p:cNvPr>
          <p:cNvSpPr>
            <a:spLocks noGrp="1"/>
          </p:cNvSpPr>
          <p:nvPr>
            <p:ph type="subTitle" idx="1"/>
          </p:nvPr>
        </p:nvSpPr>
        <p:spPr/>
        <p:txBody>
          <a:bodyPr/>
          <a:lstStyle/>
          <a:p>
            <a:pPr algn="r"/>
            <a:r>
              <a:rPr lang="en-US" altLang="ja-JP" dirty="0"/>
              <a:t>B4 </a:t>
            </a:r>
            <a:r>
              <a:rPr lang="ja-JP" altLang="en-US"/>
              <a:t>髙橋宗汰</a:t>
            </a:r>
            <a:endParaRPr kumimoji="1" lang="ja-JP" altLang="en-US"/>
          </a:p>
        </p:txBody>
      </p:sp>
    </p:spTree>
    <p:extLst>
      <p:ext uri="{BB962C8B-B14F-4D97-AF65-F5344CB8AC3E}">
        <p14:creationId xmlns:p14="http://schemas.microsoft.com/office/powerpoint/2010/main" val="3545806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89E267-342D-A24B-9464-C25FEC6365AD}"/>
              </a:ext>
            </a:extLst>
          </p:cNvPr>
          <p:cNvSpPr>
            <a:spLocks noGrp="1"/>
          </p:cNvSpPr>
          <p:nvPr>
            <p:ph type="title"/>
          </p:nvPr>
        </p:nvSpPr>
        <p:spPr/>
        <p:txBody>
          <a:bodyPr/>
          <a:lstStyle/>
          <a:p>
            <a:r>
              <a:rPr kumimoji="1" lang="ja-JP" altLang="en-US"/>
              <a:t>報告</a:t>
            </a:r>
          </a:p>
        </p:txBody>
      </p:sp>
      <p:sp>
        <p:nvSpPr>
          <p:cNvPr id="3" name="コンテンツ プレースホルダー 2">
            <a:extLst>
              <a:ext uri="{FF2B5EF4-FFF2-40B4-BE49-F238E27FC236}">
                <a16:creationId xmlns:a16="http://schemas.microsoft.com/office/drawing/2014/main" id="{9D58A742-4FA5-2643-AFCA-3A60D60846BE}"/>
              </a:ext>
            </a:extLst>
          </p:cNvPr>
          <p:cNvSpPr>
            <a:spLocks noGrp="1"/>
          </p:cNvSpPr>
          <p:nvPr>
            <p:ph idx="1"/>
          </p:nvPr>
        </p:nvSpPr>
        <p:spPr/>
        <p:txBody>
          <a:bodyPr/>
          <a:lstStyle/>
          <a:p>
            <a:pPr marL="0" indent="0">
              <a:buNone/>
            </a:pPr>
            <a:endParaRPr kumimoji="1" lang="en-US" altLang="ja-JP" dirty="0"/>
          </a:p>
          <a:p>
            <a:pPr marL="0" indent="0">
              <a:buNone/>
            </a:pPr>
            <a:r>
              <a:rPr kumimoji="1" lang="ja-JP" altLang="en-US" sz="2000"/>
              <a:t>○実験概要</a:t>
            </a:r>
            <a:endParaRPr kumimoji="1" lang="en-US" altLang="ja-JP" sz="2000" dirty="0"/>
          </a:p>
          <a:p>
            <a:pPr marL="0" indent="0">
              <a:buNone/>
            </a:pPr>
            <a:endParaRPr lang="en-US" altLang="ja-JP" sz="2000" dirty="0"/>
          </a:p>
          <a:p>
            <a:pPr marL="0" indent="0">
              <a:buNone/>
            </a:pPr>
            <a:r>
              <a:rPr kumimoji="1" lang="ja-JP" altLang="en-US" sz="2000"/>
              <a:t>○解析</a:t>
            </a:r>
            <a:endParaRPr kumimoji="1" lang="en-US" altLang="ja-JP" sz="2000" dirty="0"/>
          </a:p>
          <a:p>
            <a:pPr marL="0" indent="0">
              <a:buNone/>
            </a:pPr>
            <a:r>
              <a:rPr lang="ja-JP" altLang="en-US" sz="2000"/>
              <a:t>　・指標ごとの解析</a:t>
            </a:r>
            <a:r>
              <a:rPr lang="en-US" altLang="ja-JP" sz="2000" dirty="0"/>
              <a:t>(</a:t>
            </a:r>
            <a:r>
              <a:rPr lang="ja-JP" altLang="en-US" sz="2000"/>
              <a:t>主観・行動・生理指標</a:t>
            </a:r>
            <a:r>
              <a:rPr lang="en-US" altLang="ja-JP" sz="2000" dirty="0"/>
              <a:t>)</a:t>
            </a:r>
          </a:p>
          <a:p>
            <a:pPr marL="0" indent="0">
              <a:buNone/>
            </a:pPr>
            <a:r>
              <a:rPr kumimoji="1" lang="ja-JP" altLang="en-US" sz="2000"/>
              <a:t>　・指標間の関係</a:t>
            </a:r>
            <a:endParaRPr kumimoji="1" lang="en-US" altLang="ja-JP" sz="2000" dirty="0"/>
          </a:p>
          <a:p>
            <a:pPr marL="0" indent="0">
              <a:buNone/>
            </a:pPr>
            <a:r>
              <a:rPr lang="ja-JP" altLang="en-US" sz="2000"/>
              <a:t>　・被験者ごとに指標間の関係についての考察</a:t>
            </a:r>
            <a:endParaRPr kumimoji="1" lang="en-US" altLang="ja-JP" sz="2000" dirty="0"/>
          </a:p>
        </p:txBody>
      </p:sp>
    </p:spTree>
    <p:extLst>
      <p:ext uri="{BB962C8B-B14F-4D97-AF65-F5344CB8AC3E}">
        <p14:creationId xmlns:p14="http://schemas.microsoft.com/office/powerpoint/2010/main" val="471911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E651F0-065B-DA47-A0EE-371340A6CD65}"/>
              </a:ext>
            </a:extLst>
          </p:cNvPr>
          <p:cNvSpPr>
            <a:spLocks noGrp="1"/>
          </p:cNvSpPr>
          <p:nvPr>
            <p:ph type="title"/>
          </p:nvPr>
        </p:nvSpPr>
        <p:spPr/>
        <p:txBody>
          <a:bodyPr/>
          <a:lstStyle/>
          <a:p>
            <a:r>
              <a:rPr kumimoji="1" lang="ja-JP" altLang="en-US"/>
              <a:t>実験概要</a:t>
            </a:r>
          </a:p>
        </p:txBody>
      </p:sp>
      <p:sp>
        <p:nvSpPr>
          <p:cNvPr id="3" name="コンテンツ プレースホルダー 2">
            <a:extLst>
              <a:ext uri="{FF2B5EF4-FFF2-40B4-BE49-F238E27FC236}">
                <a16:creationId xmlns:a16="http://schemas.microsoft.com/office/drawing/2014/main" id="{7C648039-3B4C-1543-B1B6-83AE5B1AB3B2}"/>
              </a:ext>
            </a:extLst>
          </p:cNvPr>
          <p:cNvSpPr>
            <a:spLocks noGrp="1"/>
          </p:cNvSpPr>
          <p:nvPr>
            <p:ph idx="1"/>
          </p:nvPr>
        </p:nvSpPr>
        <p:spPr/>
        <p:txBody>
          <a:bodyPr>
            <a:normAutofit lnSpcReduction="10000"/>
          </a:bodyPr>
          <a:lstStyle/>
          <a:p>
            <a:pPr marL="0" indent="0">
              <a:buNone/>
            </a:pPr>
            <a:r>
              <a:rPr kumimoji="1" lang="ja-JP" altLang="en-US" sz="1800" b="1"/>
              <a:t>○目的</a:t>
            </a:r>
            <a:endParaRPr kumimoji="1" lang="en-US" altLang="ja-JP" sz="1800" b="1" dirty="0"/>
          </a:p>
          <a:p>
            <a:pPr marL="0" indent="0">
              <a:buNone/>
            </a:pPr>
            <a:r>
              <a:rPr lang="ja-JP" altLang="en-US" sz="1800"/>
              <a:t>　・情動の生起がパフォーマンスにどのように影響するのか検討</a:t>
            </a:r>
            <a:endParaRPr lang="en-US" altLang="ja-JP" sz="1800" dirty="0"/>
          </a:p>
          <a:p>
            <a:pPr marL="0" indent="0">
              <a:buNone/>
            </a:pPr>
            <a:r>
              <a:rPr kumimoji="1" lang="ja-JP" altLang="en-US" sz="1800"/>
              <a:t>　・</a:t>
            </a:r>
            <a:r>
              <a:rPr lang="ja-JP" altLang="en-US" sz="1800"/>
              <a:t>自律神経指標による</a:t>
            </a:r>
            <a:r>
              <a:rPr kumimoji="1" lang="ja-JP" altLang="en-US" sz="1800"/>
              <a:t>情動の生起やパフォーマンスの低下の推定可能性に</a:t>
            </a:r>
            <a:endParaRPr kumimoji="1" lang="en-US" altLang="ja-JP" sz="1800" dirty="0"/>
          </a:p>
          <a:p>
            <a:pPr marL="0" indent="0">
              <a:buNone/>
            </a:pPr>
            <a:r>
              <a:rPr lang="ja-JP" altLang="en-US" sz="1800"/>
              <a:t>　　ついての検討</a:t>
            </a:r>
            <a:endParaRPr lang="en-US" altLang="ja-JP" sz="1800" dirty="0"/>
          </a:p>
          <a:p>
            <a:pPr marL="0" indent="0">
              <a:buNone/>
            </a:pPr>
            <a:endParaRPr kumimoji="1" lang="en-US" altLang="ja-JP" sz="1800" dirty="0"/>
          </a:p>
          <a:p>
            <a:pPr marL="0" indent="0">
              <a:buNone/>
            </a:pPr>
            <a:r>
              <a:rPr lang="ja-JP" altLang="en-US" sz="1800" b="1"/>
              <a:t>○実験概要</a:t>
            </a:r>
            <a:endParaRPr lang="en-US" altLang="ja-JP" sz="1800" b="1" dirty="0"/>
          </a:p>
          <a:p>
            <a:pPr marL="0" indent="0">
              <a:buNone/>
            </a:pPr>
            <a:r>
              <a:rPr kumimoji="1" lang="ja-JP" altLang="en-US" sz="1800"/>
              <a:t>　・被験者数：７人（生理指標の解析は計測の不備のために５人）</a:t>
            </a:r>
            <a:endParaRPr kumimoji="1" lang="en-US" altLang="ja-JP" sz="1800" dirty="0"/>
          </a:p>
          <a:p>
            <a:pPr marL="0" indent="0">
              <a:buNone/>
            </a:pPr>
            <a:r>
              <a:rPr lang="ja-JP" altLang="en-US" sz="1800"/>
              <a:t>　・実験条件：</a:t>
            </a:r>
            <a:r>
              <a:rPr lang="en-US" altLang="ja-JP" sz="1800" dirty="0"/>
              <a:t>TP</a:t>
            </a:r>
            <a:r>
              <a:rPr lang="ja-JP" altLang="en-US" sz="1800"/>
              <a:t>（低・高）</a:t>
            </a:r>
            <a:r>
              <a:rPr lang="en-US" altLang="ja-JP" sz="1800" dirty="0"/>
              <a:t>×</a:t>
            </a:r>
            <a:r>
              <a:rPr lang="ja-JP" altLang="en-US" sz="1800"/>
              <a:t>  情動喚起（あり・なし）の計４条件</a:t>
            </a:r>
            <a:endParaRPr lang="en-US" altLang="ja-JP" sz="1800" dirty="0"/>
          </a:p>
          <a:p>
            <a:pPr marL="0" indent="0">
              <a:buNone/>
            </a:pPr>
            <a:r>
              <a:rPr lang="ja-JP" altLang="en-US" sz="1800"/>
              <a:t>　・実験の流れ</a:t>
            </a:r>
            <a:endParaRPr lang="en-US" altLang="ja-JP" sz="1800" dirty="0"/>
          </a:p>
          <a:p>
            <a:pPr marL="0" indent="0">
              <a:buNone/>
            </a:pPr>
            <a:r>
              <a:rPr lang="ja-JP" altLang="en-US" sz="1600"/>
              <a:t>　　　</a:t>
            </a:r>
            <a:r>
              <a:rPr lang="en-US" altLang="ja-JP" sz="1600" dirty="0"/>
              <a:t>1.  </a:t>
            </a:r>
            <a:r>
              <a:rPr lang="ja-JP" altLang="en-US" sz="1600"/>
              <a:t>実験内容の説明</a:t>
            </a:r>
            <a:r>
              <a:rPr lang="en-US" altLang="ja-JP" sz="1600" dirty="0"/>
              <a:t>&lt;10 </a:t>
            </a:r>
            <a:r>
              <a:rPr lang="ja-JP" altLang="en-US" sz="1600"/>
              <a:t>分</a:t>
            </a:r>
            <a:r>
              <a:rPr lang="en-US" altLang="ja-JP" sz="1600" dirty="0"/>
              <a:t>&gt; </a:t>
            </a:r>
            <a:endParaRPr lang="ja-JP" altLang="en-US" sz="1600"/>
          </a:p>
          <a:p>
            <a:pPr marL="0" indent="0">
              <a:buNone/>
            </a:pPr>
            <a:r>
              <a:rPr lang="ja-JP" altLang="en-US" sz="1600"/>
              <a:t>　　　</a:t>
            </a:r>
            <a:r>
              <a:rPr lang="en-US" altLang="ja-JP" sz="1600" dirty="0"/>
              <a:t>2.  </a:t>
            </a:r>
            <a:r>
              <a:rPr lang="ja-JP" altLang="en-US" sz="1600"/>
              <a:t>黙読と計算課題</a:t>
            </a:r>
            <a:r>
              <a:rPr lang="en-US" altLang="ja-JP" sz="1600" dirty="0"/>
              <a:t>(</a:t>
            </a:r>
            <a:r>
              <a:rPr lang="ja-JP" altLang="en-US" sz="1600"/>
              <a:t>ベースライン測定のため</a:t>
            </a:r>
            <a:r>
              <a:rPr lang="en-US" altLang="ja-JP" sz="1600" dirty="0"/>
              <a:t>)&lt;15</a:t>
            </a:r>
            <a:r>
              <a:rPr lang="ja-JP" altLang="en-US" sz="1600"/>
              <a:t>分</a:t>
            </a:r>
            <a:r>
              <a:rPr lang="en-US" altLang="ja-JP" sz="1600" dirty="0"/>
              <a:t>&gt; </a:t>
            </a:r>
            <a:endParaRPr lang="ja-JP" altLang="en-US" sz="1600"/>
          </a:p>
          <a:p>
            <a:pPr marL="0" indent="0">
              <a:buNone/>
            </a:pPr>
            <a:r>
              <a:rPr lang="ja-JP" altLang="en-US" sz="1600"/>
              <a:t>　　　</a:t>
            </a:r>
            <a:r>
              <a:rPr lang="en-US" altLang="ja-JP" sz="1600" dirty="0"/>
              <a:t>3.  </a:t>
            </a:r>
            <a:r>
              <a:rPr lang="ja-JP" altLang="en-US" sz="1600"/>
              <a:t>練習課題</a:t>
            </a:r>
            <a:r>
              <a:rPr lang="en-US" altLang="ja-JP" sz="1600" dirty="0"/>
              <a:t>&lt;10 </a:t>
            </a:r>
            <a:r>
              <a:rPr lang="ja-JP" altLang="en-US" sz="1600"/>
              <a:t>分</a:t>
            </a:r>
            <a:r>
              <a:rPr lang="en-US" altLang="ja-JP" sz="1600" dirty="0"/>
              <a:t>&gt; </a:t>
            </a:r>
            <a:endParaRPr lang="ja-JP" altLang="en-US" sz="1600"/>
          </a:p>
          <a:p>
            <a:pPr marL="0" indent="0">
              <a:buNone/>
            </a:pPr>
            <a:r>
              <a:rPr lang="ja-JP" altLang="en-US" sz="1600"/>
              <a:t>　　　</a:t>
            </a:r>
            <a:r>
              <a:rPr lang="en-US" altLang="ja-JP" sz="1600" dirty="0"/>
              <a:t>4.  </a:t>
            </a:r>
            <a:r>
              <a:rPr lang="ja-JP" altLang="en-US" sz="1600"/>
              <a:t>本番課題</a:t>
            </a:r>
            <a:r>
              <a:rPr lang="en-US" altLang="ja-JP" sz="1600" dirty="0"/>
              <a:t>(10</a:t>
            </a:r>
            <a:r>
              <a:rPr lang="ja-JP" altLang="en-US" sz="1600"/>
              <a:t>分</a:t>
            </a:r>
            <a:r>
              <a:rPr lang="en-US" altLang="ja-JP" sz="1600" dirty="0"/>
              <a:t>×4</a:t>
            </a:r>
            <a:r>
              <a:rPr lang="ja-JP" altLang="en-US" sz="1600"/>
              <a:t>回</a:t>
            </a:r>
            <a:r>
              <a:rPr lang="en-US" altLang="ja-JP" sz="1600" dirty="0"/>
              <a:t>)(</a:t>
            </a:r>
            <a:r>
              <a:rPr lang="ja-JP" altLang="en-US" sz="1600"/>
              <a:t>休憩込み</a:t>
            </a:r>
            <a:r>
              <a:rPr lang="en-US" altLang="ja-JP" sz="1600" dirty="0"/>
              <a:t>)&lt;</a:t>
            </a:r>
            <a:r>
              <a:rPr lang="ja-JP" altLang="en-US" sz="1600"/>
              <a:t>計 </a:t>
            </a:r>
            <a:r>
              <a:rPr lang="en-US" altLang="ja-JP" sz="1600" dirty="0"/>
              <a:t>1 </a:t>
            </a:r>
            <a:r>
              <a:rPr lang="ja-JP" altLang="en-US" sz="1600"/>
              <a:t>時間弱程度</a:t>
            </a:r>
            <a:r>
              <a:rPr lang="en-US" altLang="ja-JP" sz="1600" dirty="0"/>
              <a:t>&gt;</a:t>
            </a:r>
          </a:p>
          <a:p>
            <a:pPr marL="0" indent="0">
              <a:buNone/>
            </a:pPr>
            <a:r>
              <a:rPr lang="ja-JP" altLang="en-US" sz="1600"/>
              <a:t>　　　</a:t>
            </a:r>
            <a:r>
              <a:rPr lang="en-US" altLang="ja-JP" sz="1600" dirty="0"/>
              <a:t>5.  </a:t>
            </a:r>
            <a:r>
              <a:rPr lang="ja-JP" altLang="en-US" sz="1600"/>
              <a:t>黙読と計算課題</a:t>
            </a:r>
            <a:r>
              <a:rPr lang="en-US" altLang="ja-JP" sz="1600" dirty="0"/>
              <a:t>(</a:t>
            </a:r>
            <a:r>
              <a:rPr lang="ja-JP" altLang="en-US" sz="1600"/>
              <a:t>ベースライン測定のため</a:t>
            </a:r>
            <a:r>
              <a:rPr lang="en-US" altLang="ja-JP" sz="1600" dirty="0"/>
              <a:t>)&lt;15</a:t>
            </a:r>
            <a:r>
              <a:rPr lang="ja-JP" altLang="en-US" sz="1600"/>
              <a:t>分</a:t>
            </a:r>
            <a:r>
              <a:rPr lang="en-US" altLang="ja-JP" sz="1600" dirty="0"/>
              <a:t>&gt; </a:t>
            </a:r>
          </a:p>
          <a:p>
            <a:pPr marL="0" indent="0">
              <a:buNone/>
            </a:pPr>
            <a:endParaRPr kumimoji="1" lang="ja-JP" altLang="en-US" sz="1800"/>
          </a:p>
        </p:txBody>
      </p:sp>
      <p:pic>
        <p:nvPicPr>
          <p:cNvPr id="1025" name="Picture 1" descr="page1image19593856">
            <a:extLst>
              <a:ext uri="{FF2B5EF4-FFF2-40B4-BE49-F238E27FC236}">
                <a16:creationId xmlns:a16="http://schemas.microsoft.com/office/drawing/2014/main" id="{F9AFA103-C6A3-1E4F-B866-4E8BBB0DC1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15" y="5867757"/>
            <a:ext cx="7763179" cy="869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1236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AC6FE-7A4B-FB49-9189-66F5315063DD}"/>
              </a:ext>
            </a:extLst>
          </p:cNvPr>
          <p:cNvSpPr>
            <a:spLocks noGrp="1"/>
          </p:cNvSpPr>
          <p:nvPr>
            <p:ph type="title"/>
          </p:nvPr>
        </p:nvSpPr>
        <p:spPr/>
        <p:txBody>
          <a:bodyPr/>
          <a:lstStyle/>
          <a:p>
            <a:r>
              <a:rPr lang="ja-JP" altLang="en-US"/>
              <a:t>実験詳細</a:t>
            </a:r>
            <a:endParaRPr kumimoji="1" lang="ja-JP" altLang="en-US"/>
          </a:p>
        </p:txBody>
      </p:sp>
      <p:sp>
        <p:nvSpPr>
          <p:cNvPr id="3" name="コンテンツ プレースホルダー 2">
            <a:extLst>
              <a:ext uri="{FF2B5EF4-FFF2-40B4-BE49-F238E27FC236}">
                <a16:creationId xmlns:a16="http://schemas.microsoft.com/office/drawing/2014/main" id="{957A0B65-952A-374E-8AF7-9A1C3B453F6D}"/>
              </a:ext>
            </a:extLst>
          </p:cNvPr>
          <p:cNvSpPr>
            <a:spLocks noGrp="1"/>
          </p:cNvSpPr>
          <p:nvPr>
            <p:ph idx="1"/>
          </p:nvPr>
        </p:nvSpPr>
        <p:spPr/>
        <p:txBody>
          <a:bodyPr>
            <a:normAutofit lnSpcReduction="10000"/>
          </a:bodyPr>
          <a:lstStyle/>
          <a:p>
            <a:pPr marL="0" indent="0">
              <a:buNone/>
            </a:pPr>
            <a:r>
              <a:rPr kumimoji="1" lang="ja-JP" altLang="en-US" sz="1800" b="1"/>
              <a:t>○</a:t>
            </a:r>
            <a:r>
              <a:rPr lang="en-US" altLang="ja-JP" sz="1800" b="1" dirty="0"/>
              <a:t>TP</a:t>
            </a:r>
            <a:r>
              <a:rPr lang="ja-JP" altLang="en-US" sz="1800" b="1"/>
              <a:t>の設定</a:t>
            </a:r>
            <a:endParaRPr lang="en-US" altLang="ja-JP" sz="1800" b="1" dirty="0"/>
          </a:p>
          <a:p>
            <a:pPr marL="0" indent="0">
              <a:buNone/>
            </a:pPr>
            <a:r>
              <a:rPr kumimoji="1" lang="ja-JP" altLang="en-US" sz="1800"/>
              <a:t>・低</a:t>
            </a:r>
            <a:r>
              <a:rPr kumimoji="1" lang="en-US" altLang="ja-JP" sz="1800" dirty="0"/>
              <a:t>TP</a:t>
            </a:r>
            <a:r>
              <a:rPr kumimoji="1" lang="ja-JP" altLang="en-US" sz="1800"/>
              <a:t>：回答時間</a:t>
            </a:r>
            <a:r>
              <a:rPr kumimoji="1" lang="en-US" altLang="ja-JP" sz="1800" dirty="0"/>
              <a:t>5</a:t>
            </a:r>
            <a:r>
              <a:rPr kumimoji="1" lang="ja-JP" altLang="en-US" sz="1800"/>
              <a:t>秒で固定</a:t>
            </a:r>
            <a:endParaRPr kumimoji="1" lang="en-US" altLang="ja-JP" sz="1800" dirty="0"/>
          </a:p>
          <a:p>
            <a:pPr marL="0" indent="0">
              <a:buNone/>
            </a:pPr>
            <a:r>
              <a:rPr kumimoji="1" lang="ja-JP" altLang="en-US" sz="1800"/>
              <a:t>・高</a:t>
            </a:r>
            <a:r>
              <a:rPr kumimoji="1" lang="en-US" altLang="ja-JP" sz="1800" dirty="0"/>
              <a:t>TP</a:t>
            </a:r>
            <a:r>
              <a:rPr kumimoji="1" lang="ja-JP" altLang="en-US" sz="1800"/>
              <a:t>：直近５枚の回答時間平均</a:t>
            </a:r>
            <a:r>
              <a:rPr kumimoji="1" lang="en-US" altLang="ja-JP" sz="1800" dirty="0"/>
              <a:t>×1.3</a:t>
            </a:r>
            <a:r>
              <a:rPr kumimoji="1" lang="ja-JP" altLang="en-US" sz="1800"/>
              <a:t>倍．最大</a:t>
            </a:r>
            <a:r>
              <a:rPr kumimoji="1" lang="en-US" altLang="ja-JP" sz="1800" dirty="0"/>
              <a:t>2</a:t>
            </a:r>
            <a:r>
              <a:rPr kumimoji="1" lang="ja-JP" altLang="en-US" sz="1800"/>
              <a:t>秒</a:t>
            </a:r>
            <a:r>
              <a:rPr lang="ja-JP" altLang="en-US" sz="1800"/>
              <a:t>．</a:t>
            </a:r>
            <a:endParaRPr lang="en-US" altLang="ja-JP" sz="1800" dirty="0"/>
          </a:p>
          <a:p>
            <a:pPr marL="0" indent="0">
              <a:buNone/>
            </a:pPr>
            <a:endParaRPr lang="en-US" altLang="ja-JP" sz="1800" dirty="0"/>
          </a:p>
          <a:p>
            <a:pPr marL="0" indent="0">
              <a:buNone/>
            </a:pPr>
            <a:r>
              <a:rPr lang="ja-JP" altLang="en-US" sz="1800" b="1"/>
              <a:t>○情動喚起</a:t>
            </a:r>
            <a:endParaRPr lang="en-US" altLang="ja-JP" sz="1800" b="1" dirty="0"/>
          </a:p>
          <a:p>
            <a:pPr marL="0" indent="0">
              <a:buNone/>
            </a:pPr>
            <a:r>
              <a:rPr lang="ja-JP" altLang="en-US" sz="1800"/>
              <a:t>・なし：音によるフィードバックなし．</a:t>
            </a:r>
            <a:endParaRPr lang="en-US" altLang="ja-JP" sz="1800" dirty="0"/>
          </a:p>
          <a:p>
            <a:pPr marL="0" indent="0">
              <a:buNone/>
            </a:pPr>
            <a:r>
              <a:rPr lang="ja-JP" altLang="en-US" sz="1800"/>
              <a:t>　　検討段階の実験で誤りのフィードバック自体が不快との意見が多かったため</a:t>
            </a:r>
            <a:endParaRPr lang="en-US" altLang="ja-JP" sz="1800" dirty="0"/>
          </a:p>
          <a:p>
            <a:pPr marL="0" indent="0">
              <a:buNone/>
            </a:pPr>
            <a:r>
              <a:rPr lang="ja-JP" altLang="en-US" sz="1800"/>
              <a:t>・あり：正誤のフィードバック，</a:t>
            </a:r>
            <a:r>
              <a:rPr lang="en-US" altLang="ja-JP" sz="1800" dirty="0"/>
              <a:t>5</a:t>
            </a:r>
            <a:r>
              <a:rPr lang="ja-JP" altLang="en-US" sz="1800"/>
              <a:t>回誤ると警報音，</a:t>
            </a:r>
            <a:r>
              <a:rPr lang="en-US" altLang="ja-JP" sz="1800" dirty="0"/>
              <a:t>20</a:t>
            </a:r>
            <a:r>
              <a:rPr lang="ja-JP" altLang="en-US" sz="1800"/>
              <a:t>回目で不快音</a:t>
            </a:r>
            <a:endParaRPr lang="en-US" altLang="ja-JP" sz="1800" dirty="0"/>
          </a:p>
          <a:p>
            <a:pPr marL="0" indent="0">
              <a:buNone/>
            </a:pPr>
            <a:r>
              <a:rPr kumimoji="1" lang="ja-JP" altLang="en-US" sz="1800"/>
              <a:t>　</a:t>
            </a:r>
            <a:r>
              <a:rPr kumimoji="1" lang="ja-JP" altLang="en-US" sz="1800" u="sng"/>
              <a:t>警報音について</a:t>
            </a:r>
            <a:r>
              <a:rPr kumimoji="1" lang="ja-JP" altLang="en-US" sz="1800"/>
              <a:t>　</a:t>
            </a:r>
            <a:r>
              <a:rPr kumimoji="1" lang="en-US" altLang="ja-JP" sz="1100" dirty="0"/>
              <a:t>[1]</a:t>
            </a:r>
            <a:r>
              <a:rPr lang="ja-JP" altLang="en-US" sz="1100"/>
              <a:t>警告音の再評価が選択的注意に与える影響 </a:t>
            </a:r>
            <a:r>
              <a:rPr lang="en-US" altLang="ja-JP" sz="1100" dirty="0"/>
              <a:t>-</a:t>
            </a:r>
            <a:r>
              <a:rPr lang="ja-JP" altLang="en-US" sz="1050"/>
              <a:t>西村 律子・浅岡 章一</a:t>
            </a:r>
            <a:endParaRPr kumimoji="1" lang="en-US" altLang="ja-JP" sz="1050" u="sng" dirty="0"/>
          </a:p>
          <a:p>
            <a:pPr marL="0" indent="0">
              <a:buNone/>
            </a:pPr>
            <a:r>
              <a:rPr lang="ja-JP" altLang="en-US" sz="1800"/>
              <a:t>　警報音による情動ストレス反応，ネガティブ感情の生起が報告されている．</a:t>
            </a:r>
            <a:endParaRPr lang="en-US" altLang="ja-JP" sz="1050" dirty="0"/>
          </a:p>
          <a:p>
            <a:pPr marL="0" indent="0">
              <a:buNone/>
            </a:pPr>
            <a:r>
              <a:rPr lang="ja-JP" altLang="en-US" sz="1800"/>
              <a:t>　→背景にも合致しており妥当だと考えた．</a:t>
            </a:r>
            <a:endParaRPr lang="en-US" altLang="ja-JP" sz="1800" dirty="0"/>
          </a:p>
          <a:p>
            <a:pPr marL="0" indent="0">
              <a:buNone/>
            </a:pPr>
            <a:r>
              <a:rPr lang="ja-JP" altLang="en-US" sz="1800"/>
              <a:t>　</a:t>
            </a:r>
            <a:r>
              <a:rPr lang="ja-JP" altLang="en-US" sz="1800" u="sng"/>
              <a:t>不快音について</a:t>
            </a:r>
            <a:r>
              <a:rPr lang="ja-JP" altLang="en-US" sz="1800"/>
              <a:t>　</a:t>
            </a:r>
            <a:r>
              <a:rPr lang="en-US" altLang="ja-JP" sz="1300" dirty="0"/>
              <a:t>[2]</a:t>
            </a:r>
            <a:r>
              <a:rPr lang="ja-JP" altLang="en-US" sz="1300"/>
              <a:t>スティックスリップ音の不快要因 </a:t>
            </a:r>
            <a:r>
              <a:rPr lang="en-US" altLang="ja-JP" sz="1300" dirty="0"/>
              <a:t>—</a:t>
            </a:r>
            <a:r>
              <a:rPr lang="ja-JP" altLang="en-US" sz="1300"/>
              <a:t>ピーク周波数と包絡線</a:t>
            </a:r>
            <a:r>
              <a:rPr lang="en-US" altLang="ja-JP" sz="1300" dirty="0"/>
              <a:t>—</a:t>
            </a:r>
            <a:r>
              <a:rPr lang="ja-JP" altLang="en-US" sz="1300"/>
              <a:t>川口 弘哲 </a:t>
            </a:r>
            <a:endParaRPr lang="en-US" altLang="ja-JP" sz="1300" dirty="0"/>
          </a:p>
          <a:p>
            <a:pPr marL="0" indent="0">
              <a:buNone/>
            </a:pPr>
            <a:r>
              <a:rPr lang="en-US" altLang="ja-JP" sz="1300" dirty="0"/>
              <a:t>                    </a:t>
            </a:r>
            <a:r>
              <a:rPr lang="ja-JP" altLang="en-US" sz="1300"/>
              <a:t>　　　　　　　　</a:t>
            </a:r>
            <a:r>
              <a:rPr lang="en-US" altLang="ja-JP" sz="1300" dirty="0"/>
              <a:t> [3]</a:t>
            </a:r>
            <a:r>
              <a:rPr lang="ja-JP" altLang="en-US" sz="1300"/>
              <a:t>不快音に対する生体反応 </a:t>
            </a:r>
            <a:r>
              <a:rPr lang="en-US" altLang="ja-JP" sz="1300" dirty="0"/>
              <a:t>-</a:t>
            </a:r>
            <a:r>
              <a:rPr lang="ja-JP" altLang="en-US" sz="1300"/>
              <a:t>堀井 昭男 ，山村 千草 ，勝俣 智道 </a:t>
            </a:r>
            <a:r>
              <a:rPr lang="en-US" altLang="ja-JP" sz="1300" dirty="0"/>
              <a:t>,</a:t>
            </a:r>
            <a:r>
              <a:rPr lang="ja-JP" altLang="en-US" sz="1300"/>
              <a:t>内山 明彦</a:t>
            </a:r>
            <a:endParaRPr lang="en-US" altLang="ja-JP" sz="1800" u="sng" dirty="0"/>
          </a:p>
          <a:p>
            <a:pPr marL="0" indent="0">
              <a:buNone/>
            </a:pPr>
            <a:r>
              <a:rPr lang="ja-JP" altLang="en-US" sz="1800"/>
              <a:t>　先行研究から，不快な周波数帯域の音を組み合わせて作成</a:t>
            </a:r>
            <a:r>
              <a:rPr lang="en-US" altLang="ja-JP" sz="1800" dirty="0"/>
              <a:t>. </a:t>
            </a:r>
            <a:endParaRPr kumimoji="1" lang="en-US" altLang="ja-JP" sz="1800" dirty="0"/>
          </a:p>
        </p:txBody>
      </p:sp>
    </p:spTree>
    <p:extLst>
      <p:ext uri="{BB962C8B-B14F-4D97-AF65-F5344CB8AC3E}">
        <p14:creationId xmlns:p14="http://schemas.microsoft.com/office/powerpoint/2010/main" val="1456761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3EB4DC-6833-A94A-B6B7-07651CCFEE24}"/>
              </a:ext>
            </a:extLst>
          </p:cNvPr>
          <p:cNvSpPr>
            <a:spLocks noGrp="1"/>
          </p:cNvSpPr>
          <p:nvPr>
            <p:ph type="title"/>
          </p:nvPr>
        </p:nvSpPr>
        <p:spPr/>
        <p:txBody>
          <a:bodyPr/>
          <a:lstStyle/>
          <a:p>
            <a:r>
              <a:rPr kumimoji="1" lang="ja-JP" altLang="en-US" b="1"/>
              <a:t>解析方針</a:t>
            </a:r>
          </a:p>
        </p:txBody>
      </p:sp>
      <p:sp>
        <p:nvSpPr>
          <p:cNvPr id="3" name="コンテンツ プレースホルダー 2">
            <a:extLst>
              <a:ext uri="{FF2B5EF4-FFF2-40B4-BE49-F238E27FC236}">
                <a16:creationId xmlns:a16="http://schemas.microsoft.com/office/drawing/2014/main" id="{2D57AAC6-33A9-7842-AEB0-2C2CED9B0B9A}"/>
              </a:ext>
            </a:extLst>
          </p:cNvPr>
          <p:cNvSpPr>
            <a:spLocks noGrp="1"/>
          </p:cNvSpPr>
          <p:nvPr>
            <p:ph idx="1"/>
          </p:nvPr>
        </p:nvSpPr>
        <p:spPr/>
        <p:txBody>
          <a:bodyPr>
            <a:normAutofit/>
          </a:bodyPr>
          <a:lstStyle/>
          <a:p>
            <a:pPr marL="0" indent="0">
              <a:buNone/>
            </a:pPr>
            <a:endParaRPr kumimoji="1" lang="en-US" altLang="ja-JP" dirty="0"/>
          </a:p>
          <a:p>
            <a:pPr marL="0" indent="0">
              <a:buNone/>
            </a:pPr>
            <a:r>
              <a:rPr lang="ja-JP" altLang="en-US" sz="2000" b="1"/>
              <a:t>○指標ごとの解析</a:t>
            </a:r>
            <a:r>
              <a:rPr lang="en-US" altLang="ja-JP" sz="2000" b="1" dirty="0"/>
              <a:t>(</a:t>
            </a:r>
            <a:r>
              <a:rPr lang="ja-JP" altLang="en-US" sz="2000" b="1"/>
              <a:t>主観・行動・生理指標</a:t>
            </a:r>
            <a:r>
              <a:rPr lang="en-US" altLang="ja-JP" sz="2000" b="1" dirty="0"/>
              <a:t>)</a:t>
            </a:r>
          </a:p>
          <a:p>
            <a:pPr marL="0" indent="0">
              <a:buNone/>
            </a:pPr>
            <a:r>
              <a:rPr lang="ja-JP" altLang="en-US" sz="2000"/>
              <a:t>　・指標ごとに平均して対応ありの二要因分散分析</a:t>
            </a:r>
            <a:endParaRPr lang="en-US" altLang="ja-JP" sz="2000" dirty="0"/>
          </a:p>
          <a:p>
            <a:pPr marL="0" indent="0">
              <a:buNone/>
            </a:pPr>
            <a:r>
              <a:rPr lang="ja-JP" altLang="en-US" sz="2000"/>
              <a:t>　・交互作用が有意であった場合に多重比較（まだ）</a:t>
            </a:r>
            <a:endParaRPr lang="en-US" altLang="ja-JP" sz="2000" dirty="0"/>
          </a:p>
          <a:p>
            <a:pPr marL="0" indent="0">
              <a:buNone/>
            </a:pPr>
            <a:r>
              <a:rPr lang="ja-JP" altLang="en-US" sz="2000"/>
              <a:t>　・交互作用が有意でなくとも、差がありそうな指標には対応ありの</a:t>
            </a:r>
            <a:r>
              <a:rPr lang="en-US" altLang="ja-JP" sz="2000" dirty="0"/>
              <a:t>t</a:t>
            </a:r>
            <a:r>
              <a:rPr lang="ja-JP" altLang="en-US" sz="2000"/>
              <a:t>検定</a:t>
            </a:r>
            <a:endParaRPr lang="en-US" altLang="ja-JP" sz="2000" dirty="0"/>
          </a:p>
          <a:p>
            <a:pPr marL="0" indent="0">
              <a:buNone/>
            </a:pPr>
            <a:r>
              <a:rPr lang="ja-JP" altLang="en-US" sz="2000"/>
              <a:t>　　（まだ）</a:t>
            </a:r>
            <a:endParaRPr lang="en-US" altLang="ja-JP" sz="2000" dirty="0"/>
          </a:p>
          <a:p>
            <a:pPr marL="0" indent="0">
              <a:buNone/>
            </a:pPr>
            <a:endParaRPr lang="en-US" altLang="ja-JP" sz="2000" dirty="0"/>
          </a:p>
          <a:p>
            <a:pPr marL="0" indent="0">
              <a:buNone/>
            </a:pPr>
            <a:r>
              <a:rPr lang="ja-JP" altLang="en-US" sz="2000" b="1"/>
              <a:t>○被験者ごとに指標間の関係についての考察</a:t>
            </a:r>
            <a:endParaRPr lang="en-US" altLang="ja-JP" sz="2000" b="1" dirty="0"/>
          </a:p>
          <a:p>
            <a:pPr marL="0" indent="0">
              <a:buNone/>
            </a:pPr>
            <a:r>
              <a:rPr lang="ja-JP" altLang="en-US" sz="2000"/>
              <a:t>　・</a:t>
            </a:r>
            <a:r>
              <a:rPr lang="en-US" altLang="ja-JP" sz="2000" dirty="0"/>
              <a:t>60</a:t>
            </a:r>
            <a:r>
              <a:rPr lang="ja-JP" altLang="en-US" sz="2000"/>
              <a:t>秒ごとのパフォーマンスと心拍変動パラメータの関連について考察</a:t>
            </a:r>
            <a:endParaRPr lang="en-US" altLang="ja-JP" sz="2000" dirty="0"/>
          </a:p>
          <a:p>
            <a:pPr marL="0" indent="0">
              <a:buNone/>
            </a:pPr>
            <a:endParaRPr kumimoji="1" lang="ja-JP" altLang="en-US"/>
          </a:p>
        </p:txBody>
      </p:sp>
    </p:spTree>
    <p:extLst>
      <p:ext uri="{BB962C8B-B14F-4D97-AF65-F5344CB8AC3E}">
        <p14:creationId xmlns:p14="http://schemas.microsoft.com/office/powerpoint/2010/main" val="2318733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B90491-0635-0D49-AA92-59F3D346E567}"/>
              </a:ext>
            </a:extLst>
          </p:cNvPr>
          <p:cNvSpPr>
            <a:spLocks noGrp="1"/>
          </p:cNvSpPr>
          <p:nvPr>
            <p:ph type="title"/>
          </p:nvPr>
        </p:nvSpPr>
        <p:spPr/>
        <p:txBody>
          <a:bodyPr/>
          <a:lstStyle/>
          <a:p>
            <a:r>
              <a:rPr kumimoji="1" lang="ja-JP" altLang="en-US" b="1"/>
              <a:t>指標ごとの解析</a:t>
            </a:r>
          </a:p>
        </p:txBody>
      </p:sp>
      <p:sp>
        <p:nvSpPr>
          <p:cNvPr id="3" name="コンテンツ プレースホルダー 2">
            <a:extLst>
              <a:ext uri="{FF2B5EF4-FFF2-40B4-BE49-F238E27FC236}">
                <a16:creationId xmlns:a16="http://schemas.microsoft.com/office/drawing/2014/main" id="{C01C3DDE-9C80-D54F-9389-2CB7E5FA92ED}"/>
              </a:ext>
            </a:extLst>
          </p:cNvPr>
          <p:cNvSpPr>
            <a:spLocks noGrp="1"/>
          </p:cNvSpPr>
          <p:nvPr>
            <p:ph idx="1"/>
          </p:nvPr>
        </p:nvSpPr>
        <p:spPr>
          <a:xfrm>
            <a:off x="262890" y="1188719"/>
            <a:ext cx="8698230" cy="5452109"/>
          </a:xfrm>
        </p:spPr>
        <p:txBody>
          <a:bodyPr>
            <a:normAutofit/>
          </a:bodyPr>
          <a:lstStyle/>
          <a:p>
            <a:pPr marL="0" indent="0">
              <a:buNone/>
            </a:pPr>
            <a:endParaRPr lang="en-US" altLang="ja-JP" sz="2000" dirty="0"/>
          </a:p>
          <a:p>
            <a:pPr marL="0" indent="0">
              <a:buNone/>
            </a:pPr>
            <a:r>
              <a:rPr kumimoji="1" lang="ja-JP" altLang="en-US" sz="2000"/>
              <a:t>○主観指標</a:t>
            </a:r>
            <a:r>
              <a:rPr kumimoji="1" lang="en-US" altLang="ja-JP" sz="2000" dirty="0"/>
              <a:t>(</a:t>
            </a:r>
            <a:r>
              <a:rPr lang="ja-JP" altLang="en-US" sz="2000"/>
              <a:t>特に関連のある指標３つ</a:t>
            </a:r>
            <a:r>
              <a:rPr kumimoji="1" lang="en-US" altLang="ja-JP" sz="2000" dirty="0"/>
              <a:t>)</a:t>
            </a:r>
          </a:p>
          <a:p>
            <a:pPr marL="0" indent="0">
              <a:buNone/>
            </a:pPr>
            <a:r>
              <a:rPr lang="ja-JP" altLang="en-US" sz="2000"/>
              <a:t>　・</a:t>
            </a:r>
            <a:r>
              <a:rPr lang="en-US" altLang="ja-JP" sz="2000" dirty="0"/>
              <a:t>TP</a:t>
            </a:r>
            <a:r>
              <a:rPr lang="ja-JP" altLang="en-US" sz="2000"/>
              <a:t>　　・</a:t>
            </a:r>
            <a:r>
              <a:rPr lang="en-US" altLang="ja-JP" sz="2000" dirty="0"/>
              <a:t>WWL</a:t>
            </a:r>
            <a:r>
              <a:rPr lang="ja-JP" altLang="en-US" sz="2000"/>
              <a:t>　　・</a:t>
            </a:r>
            <a:r>
              <a:rPr lang="en-US" altLang="ja-JP" sz="2000" dirty="0"/>
              <a:t>VAS</a:t>
            </a:r>
          </a:p>
          <a:p>
            <a:pPr marL="0" indent="0">
              <a:buNone/>
            </a:pPr>
            <a:endParaRPr lang="en-US" altLang="ja-JP" sz="2000" dirty="0"/>
          </a:p>
          <a:p>
            <a:pPr marL="0" indent="0">
              <a:buNone/>
            </a:pPr>
            <a:r>
              <a:rPr lang="ja-JP" altLang="en-US" sz="2000"/>
              <a:t>○行動指標</a:t>
            </a:r>
            <a:endParaRPr lang="en-US" altLang="ja-JP" sz="2000" dirty="0"/>
          </a:p>
          <a:p>
            <a:pPr marL="0" indent="0">
              <a:buNone/>
            </a:pPr>
            <a:r>
              <a:rPr lang="ja-JP" altLang="en-US" sz="2000"/>
              <a:t>　・</a:t>
            </a:r>
            <a:r>
              <a:rPr lang="en-US" altLang="ja-JP" sz="2000" dirty="0"/>
              <a:t>CA</a:t>
            </a:r>
            <a:r>
              <a:rPr lang="ja-JP" altLang="en-US" sz="2000"/>
              <a:t>：</a:t>
            </a:r>
            <a:r>
              <a:rPr lang="en-US" altLang="ja-JP" sz="2000" dirty="0"/>
              <a:t>WCST</a:t>
            </a:r>
            <a:r>
              <a:rPr lang="ja-JP" altLang="en-US" sz="2000"/>
              <a:t>のカテゴリー達成数</a:t>
            </a:r>
            <a:r>
              <a:rPr lang="en-US" altLang="ja-JP" sz="2000" dirty="0"/>
              <a:t>(</a:t>
            </a:r>
            <a:r>
              <a:rPr lang="ja-JP" altLang="en-US" sz="2000"/>
              <a:t>各分類ルールの</a:t>
            </a:r>
            <a:r>
              <a:rPr lang="en-US" altLang="ja-JP" sz="2000" dirty="0"/>
              <a:t>6</a:t>
            </a:r>
            <a:r>
              <a:rPr lang="ja-JP" altLang="en-US" sz="2000"/>
              <a:t>回連続成功回数</a:t>
            </a:r>
            <a:r>
              <a:rPr lang="en-US" altLang="ja-JP" sz="2000" dirty="0"/>
              <a:t>)</a:t>
            </a:r>
          </a:p>
          <a:p>
            <a:pPr marL="0" indent="0">
              <a:buNone/>
            </a:pPr>
            <a:r>
              <a:rPr lang="ja-JP" altLang="en-US" sz="2000"/>
              <a:t>　・正答率：タイムオーバー以外の試行の正答率</a:t>
            </a:r>
            <a:endParaRPr lang="en-US" altLang="ja-JP" sz="2000" dirty="0"/>
          </a:p>
          <a:p>
            <a:pPr marL="0" indent="0">
              <a:buNone/>
            </a:pPr>
            <a:endParaRPr lang="en-US" altLang="ja-JP" sz="2000" dirty="0"/>
          </a:p>
          <a:p>
            <a:pPr marL="0" indent="0">
              <a:buNone/>
            </a:pPr>
            <a:r>
              <a:rPr lang="ja-JP" altLang="en-US" sz="2000"/>
              <a:t>○生理指標</a:t>
            </a:r>
            <a:r>
              <a:rPr lang="en-US" altLang="ja-JP" sz="2000" dirty="0"/>
              <a:t>(LF</a:t>
            </a:r>
            <a:r>
              <a:rPr lang="ja-JP" altLang="en-US" sz="2000"/>
              <a:t>，</a:t>
            </a:r>
            <a:r>
              <a:rPr lang="en-US" altLang="ja-JP" sz="2000" dirty="0"/>
              <a:t>HF</a:t>
            </a:r>
            <a:r>
              <a:rPr lang="ja-JP" altLang="en-US" sz="2000"/>
              <a:t>は数値のみによる結果の解釈が難しかったため除外</a:t>
            </a:r>
            <a:r>
              <a:rPr lang="en-US" altLang="ja-JP" sz="2000" dirty="0"/>
              <a:t>)</a:t>
            </a:r>
          </a:p>
          <a:p>
            <a:pPr marL="0" indent="0">
              <a:buNone/>
            </a:pPr>
            <a:r>
              <a:rPr lang="ja-JP" altLang="en-US" sz="2000"/>
              <a:t>　・</a:t>
            </a:r>
            <a:r>
              <a:rPr lang="en-US" altLang="ja-JP" sz="2000" dirty="0"/>
              <a:t>HR</a:t>
            </a:r>
            <a:r>
              <a:rPr lang="ja-JP" altLang="en-US" sz="2000"/>
              <a:t>：心拍数</a:t>
            </a:r>
            <a:r>
              <a:rPr lang="en-US" altLang="ja-JP" sz="2000" dirty="0"/>
              <a:t>(</a:t>
            </a:r>
            <a:r>
              <a:rPr lang="ja-JP" altLang="en-US" sz="2000">
                <a:solidFill>
                  <a:srgbClr val="FF0000"/>
                </a:solidFill>
              </a:rPr>
              <a:t>交換</a:t>
            </a:r>
            <a:r>
              <a:rPr lang="en-US" altLang="ja-JP" sz="2000" dirty="0"/>
              <a:t>)</a:t>
            </a:r>
            <a:r>
              <a:rPr lang="ja-JP" altLang="en-US" sz="2000"/>
              <a:t>　　　・</a:t>
            </a:r>
            <a:r>
              <a:rPr lang="en-US" altLang="ja-JP" sz="2000" dirty="0"/>
              <a:t>SDNN</a:t>
            </a:r>
            <a:r>
              <a:rPr lang="ja-JP" altLang="en-US" sz="2000"/>
              <a:t>：標準偏差（</a:t>
            </a:r>
            <a:r>
              <a:rPr lang="ja-JP" altLang="en-US" sz="2000">
                <a:solidFill>
                  <a:schemeClr val="accent1"/>
                </a:solidFill>
              </a:rPr>
              <a:t>副交感</a:t>
            </a:r>
            <a:r>
              <a:rPr lang="ja-JP" altLang="en-US" sz="2000"/>
              <a:t>）</a:t>
            </a:r>
            <a:endParaRPr lang="en-US" altLang="ja-JP" sz="2000" dirty="0"/>
          </a:p>
          <a:p>
            <a:pPr marL="0" indent="0">
              <a:buNone/>
            </a:pPr>
            <a:r>
              <a:rPr lang="ja-JP" altLang="en-US" sz="2000"/>
              <a:t>　・</a:t>
            </a:r>
            <a:r>
              <a:rPr lang="en-US" altLang="ja-JP" sz="2000" dirty="0"/>
              <a:t>RMSSD</a:t>
            </a:r>
            <a:r>
              <a:rPr lang="ja-JP" altLang="en-US" sz="2000"/>
              <a:t>：隣り合う</a:t>
            </a:r>
            <a:r>
              <a:rPr lang="en-US" altLang="ja-JP" sz="2000" dirty="0"/>
              <a:t>RRI</a:t>
            </a:r>
            <a:r>
              <a:rPr lang="ja-JP" altLang="en-US" sz="2000"/>
              <a:t>の差の二乗平均</a:t>
            </a:r>
            <a:r>
              <a:rPr lang="en-US" altLang="ja-JP" sz="2000" dirty="0"/>
              <a:t>(</a:t>
            </a:r>
            <a:r>
              <a:rPr lang="ja-JP" altLang="en-US" sz="2000">
                <a:solidFill>
                  <a:schemeClr val="accent1"/>
                </a:solidFill>
              </a:rPr>
              <a:t>副交感</a:t>
            </a:r>
            <a:r>
              <a:rPr lang="en-US" altLang="ja-JP" sz="2000" dirty="0"/>
              <a:t>)</a:t>
            </a:r>
          </a:p>
          <a:p>
            <a:pPr marL="0" indent="0">
              <a:buNone/>
            </a:pPr>
            <a:r>
              <a:rPr lang="ja-JP" altLang="en-US" sz="2000"/>
              <a:t>　・</a:t>
            </a:r>
            <a:r>
              <a:rPr lang="en-US" altLang="ja-JP" sz="2000" dirty="0"/>
              <a:t>pNN50</a:t>
            </a:r>
            <a:r>
              <a:rPr lang="ja-JP" altLang="en-US" sz="2000"/>
              <a:t>：</a:t>
            </a:r>
            <a:r>
              <a:rPr lang="en-US" altLang="ja-JP" sz="2000" dirty="0"/>
              <a:t>RRI</a:t>
            </a:r>
            <a:r>
              <a:rPr lang="ja-JP" altLang="en-US" sz="2000"/>
              <a:t>の変動が</a:t>
            </a:r>
            <a:r>
              <a:rPr lang="en-US" altLang="ja-JP" sz="2000" dirty="0"/>
              <a:t>50msec</a:t>
            </a:r>
            <a:r>
              <a:rPr lang="ja-JP" altLang="en-US" sz="2000"/>
              <a:t>を超えたものの比率</a:t>
            </a:r>
            <a:r>
              <a:rPr lang="en-US" altLang="ja-JP" sz="2000" dirty="0"/>
              <a:t>(</a:t>
            </a:r>
            <a:r>
              <a:rPr lang="ja-JP" altLang="en-US" sz="2000">
                <a:solidFill>
                  <a:schemeClr val="accent1"/>
                </a:solidFill>
              </a:rPr>
              <a:t>副交感</a:t>
            </a:r>
            <a:r>
              <a:rPr lang="en-US" altLang="ja-JP" sz="2000" dirty="0"/>
              <a:t>)</a:t>
            </a:r>
          </a:p>
          <a:p>
            <a:pPr marL="0" indent="0">
              <a:buNone/>
            </a:pPr>
            <a:r>
              <a:rPr lang="ja-JP" altLang="en-US" sz="2000"/>
              <a:t>　・</a:t>
            </a:r>
            <a:r>
              <a:rPr lang="en-US" altLang="ja-JP" sz="2000" dirty="0"/>
              <a:t>LPS</a:t>
            </a:r>
            <a:r>
              <a:rPr lang="ja-JP" altLang="en-US" sz="2000"/>
              <a:t>：</a:t>
            </a:r>
            <a:r>
              <a:rPr lang="en-US" altLang="ja-JP" sz="2000" dirty="0"/>
              <a:t>LP</a:t>
            </a:r>
            <a:r>
              <a:rPr lang="ja-JP" altLang="en-US" sz="2000"/>
              <a:t>面積</a:t>
            </a:r>
            <a:r>
              <a:rPr lang="en-US" altLang="ja-JP" sz="2000" dirty="0"/>
              <a:t>(</a:t>
            </a:r>
            <a:r>
              <a:rPr lang="ja-JP" altLang="en-US" sz="2000">
                <a:solidFill>
                  <a:schemeClr val="accent1"/>
                </a:solidFill>
              </a:rPr>
              <a:t>副交感</a:t>
            </a:r>
            <a:r>
              <a:rPr lang="en-US" altLang="ja-JP" sz="2000" dirty="0"/>
              <a:t>)</a:t>
            </a:r>
          </a:p>
        </p:txBody>
      </p:sp>
    </p:spTree>
    <p:extLst>
      <p:ext uri="{BB962C8B-B14F-4D97-AF65-F5344CB8AC3E}">
        <p14:creationId xmlns:p14="http://schemas.microsoft.com/office/powerpoint/2010/main" val="278915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B90491-0635-0D49-AA92-59F3D346E567}"/>
              </a:ext>
            </a:extLst>
          </p:cNvPr>
          <p:cNvSpPr>
            <a:spLocks noGrp="1"/>
          </p:cNvSpPr>
          <p:nvPr>
            <p:ph type="title"/>
          </p:nvPr>
        </p:nvSpPr>
        <p:spPr/>
        <p:txBody>
          <a:bodyPr/>
          <a:lstStyle/>
          <a:p>
            <a:r>
              <a:rPr kumimoji="1" lang="ja-JP" altLang="en-US" b="1"/>
              <a:t>指標ごとの解析</a:t>
            </a:r>
          </a:p>
        </p:txBody>
      </p:sp>
      <p:sp>
        <p:nvSpPr>
          <p:cNvPr id="3" name="コンテンツ プレースホルダー 2">
            <a:extLst>
              <a:ext uri="{FF2B5EF4-FFF2-40B4-BE49-F238E27FC236}">
                <a16:creationId xmlns:a16="http://schemas.microsoft.com/office/drawing/2014/main" id="{C01C3DDE-9C80-D54F-9389-2CB7E5FA92ED}"/>
              </a:ext>
            </a:extLst>
          </p:cNvPr>
          <p:cNvSpPr>
            <a:spLocks noGrp="1"/>
          </p:cNvSpPr>
          <p:nvPr>
            <p:ph idx="1"/>
          </p:nvPr>
        </p:nvSpPr>
        <p:spPr>
          <a:xfrm>
            <a:off x="262890" y="1188719"/>
            <a:ext cx="8698230" cy="5452109"/>
          </a:xfrm>
        </p:spPr>
        <p:txBody>
          <a:bodyPr>
            <a:normAutofit/>
          </a:bodyPr>
          <a:lstStyle/>
          <a:p>
            <a:pPr marL="0" indent="0">
              <a:buNone/>
            </a:pPr>
            <a:endParaRPr lang="en-US" altLang="ja-JP" sz="2000" dirty="0"/>
          </a:p>
          <a:p>
            <a:pPr marL="0" indent="0">
              <a:buNone/>
            </a:pPr>
            <a:r>
              <a:rPr kumimoji="1" lang="ja-JP" altLang="en-US" sz="2000" b="1">
                <a:solidFill>
                  <a:srgbClr val="00B050"/>
                </a:solidFill>
              </a:rPr>
              <a:t>○主観指標</a:t>
            </a:r>
            <a:r>
              <a:rPr kumimoji="1" lang="en-US" altLang="ja-JP" sz="2000" b="1" dirty="0">
                <a:solidFill>
                  <a:srgbClr val="00B050"/>
                </a:solidFill>
              </a:rPr>
              <a:t>(</a:t>
            </a:r>
            <a:r>
              <a:rPr lang="ja-JP" altLang="en-US" sz="2000" b="1">
                <a:solidFill>
                  <a:srgbClr val="00B050"/>
                </a:solidFill>
              </a:rPr>
              <a:t>特に関連のある指標３つ</a:t>
            </a:r>
            <a:r>
              <a:rPr kumimoji="1" lang="en-US" altLang="ja-JP" sz="2000" b="1" dirty="0">
                <a:solidFill>
                  <a:srgbClr val="00B050"/>
                </a:solidFill>
              </a:rPr>
              <a:t>)</a:t>
            </a:r>
          </a:p>
          <a:p>
            <a:pPr marL="0" indent="0">
              <a:buNone/>
            </a:pPr>
            <a:r>
              <a:rPr lang="ja-JP" altLang="en-US" sz="2000" b="1">
                <a:solidFill>
                  <a:srgbClr val="00B050"/>
                </a:solidFill>
              </a:rPr>
              <a:t>　・</a:t>
            </a:r>
            <a:r>
              <a:rPr lang="en-US" altLang="ja-JP" sz="2000" b="1" dirty="0">
                <a:solidFill>
                  <a:srgbClr val="00B050"/>
                </a:solidFill>
              </a:rPr>
              <a:t>TP</a:t>
            </a:r>
            <a:r>
              <a:rPr lang="ja-JP" altLang="en-US" sz="2000" b="1">
                <a:solidFill>
                  <a:srgbClr val="00B050"/>
                </a:solidFill>
              </a:rPr>
              <a:t>　　・</a:t>
            </a:r>
            <a:r>
              <a:rPr lang="en-US" altLang="ja-JP" sz="2000" b="1" dirty="0">
                <a:solidFill>
                  <a:srgbClr val="00B050"/>
                </a:solidFill>
              </a:rPr>
              <a:t>WWL</a:t>
            </a:r>
            <a:r>
              <a:rPr lang="ja-JP" altLang="en-US" sz="2000" b="1">
                <a:solidFill>
                  <a:srgbClr val="00B050"/>
                </a:solidFill>
              </a:rPr>
              <a:t>　　・</a:t>
            </a:r>
            <a:r>
              <a:rPr lang="en-US" altLang="ja-JP" sz="2000" b="1" dirty="0">
                <a:solidFill>
                  <a:srgbClr val="00B050"/>
                </a:solidFill>
              </a:rPr>
              <a:t>VAS</a:t>
            </a:r>
          </a:p>
          <a:p>
            <a:pPr marL="0" indent="0">
              <a:buNone/>
            </a:pPr>
            <a:endParaRPr lang="en-US" altLang="ja-JP" sz="2000" dirty="0"/>
          </a:p>
          <a:p>
            <a:pPr marL="0" indent="0">
              <a:buNone/>
            </a:pPr>
            <a:r>
              <a:rPr lang="ja-JP" altLang="en-US" sz="2000"/>
              <a:t>○行動指標</a:t>
            </a:r>
            <a:endParaRPr lang="en-US" altLang="ja-JP" sz="2000" dirty="0"/>
          </a:p>
          <a:p>
            <a:pPr marL="0" indent="0">
              <a:buNone/>
            </a:pPr>
            <a:r>
              <a:rPr lang="ja-JP" altLang="en-US" sz="2000"/>
              <a:t>　・</a:t>
            </a:r>
            <a:r>
              <a:rPr lang="en-US" altLang="ja-JP" sz="2000" dirty="0"/>
              <a:t>CA</a:t>
            </a:r>
            <a:r>
              <a:rPr lang="ja-JP" altLang="en-US" sz="2000"/>
              <a:t>：</a:t>
            </a:r>
            <a:r>
              <a:rPr lang="en-US" altLang="ja-JP" sz="2000" dirty="0"/>
              <a:t>WCST</a:t>
            </a:r>
            <a:r>
              <a:rPr lang="ja-JP" altLang="en-US" sz="2000"/>
              <a:t>のカテゴリー達成数</a:t>
            </a:r>
            <a:r>
              <a:rPr lang="en-US" altLang="ja-JP" sz="2000" dirty="0"/>
              <a:t>(</a:t>
            </a:r>
            <a:r>
              <a:rPr lang="ja-JP" altLang="en-US" sz="2000"/>
              <a:t>各分類ルールの</a:t>
            </a:r>
            <a:r>
              <a:rPr lang="en-US" altLang="ja-JP" sz="2000" dirty="0"/>
              <a:t>6</a:t>
            </a:r>
            <a:r>
              <a:rPr lang="ja-JP" altLang="en-US" sz="2000"/>
              <a:t>回連続成功回数</a:t>
            </a:r>
            <a:r>
              <a:rPr lang="en-US" altLang="ja-JP" sz="2000" dirty="0"/>
              <a:t>)</a:t>
            </a:r>
          </a:p>
          <a:p>
            <a:pPr marL="0" indent="0">
              <a:buNone/>
            </a:pPr>
            <a:r>
              <a:rPr lang="ja-JP" altLang="en-US" sz="2000"/>
              <a:t>　・正答率：タイムオーバー以外の試行の正答率</a:t>
            </a:r>
            <a:endParaRPr lang="en-US" altLang="ja-JP" sz="2000" dirty="0"/>
          </a:p>
          <a:p>
            <a:pPr marL="0" indent="0">
              <a:buNone/>
            </a:pPr>
            <a:endParaRPr lang="en-US" altLang="ja-JP" sz="2000" dirty="0"/>
          </a:p>
          <a:p>
            <a:pPr marL="0" indent="0">
              <a:buNone/>
            </a:pPr>
            <a:r>
              <a:rPr lang="ja-JP" altLang="en-US" sz="2000"/>
              <a:t>○生理指標</a:t>
            </a:r>
            <a:r>
              <a:rPr lang="en-US" altLang="ja-JP" sz="2000" dirty="0"/>
              <a:t>(LF</a:t>
            </a:r>
            <a:r>
              <a:rPr lang="ja-JP" altLang="en-US" sz="2000"/>
              <a:t>，</a:t>
            </a:r>
            <a:r>
              <a:rPr lang="en-US" altLang="ja-JP" sz="2000" dirty="0"/>
              <a:t>HF</a:t>
            </a:r>
            <a:r>
              <a:rPr lang="ja-JP" altLang="en-US" sz="2000"/>
              <a:t>は数値のみによる結果の解釈が難しかったため除外</a:t>
            </a:r>
            <a:r>
              <a:rPr lang="en-US" altLang="ja-JP" sz="2000" dirty="0"/>
              <a:t>)</a:t>
            </a:r>
          </a:p>
          <a:p>
            <a:pPr marL="0" indent="0">
              <a:buNone/>
            </a:pPr>
            <a:r>
              <a:rPr lang="ja-JP" altLang="en-US" sz="2000"/>
              <a:t>　・</a:t>
            </a:r>
            <a:r>
              <a:rPr lang="en-US" altLang="ja-JP" sz="2000" dirty="0"/>
              <a:t>HR</a:t>
            </a:r>
            <a:r>
              <a:rPr lang="ja-JP" altLang="en-US" sz="2000"/>
              <a:t>：心拍数</a:t>
            </a:r>
            <a:r>
              <a:rPr lang="en-US" altLang="ja-JP" sz="2000" dirty="0"/>
              <a:t>(</a:t>
            </a:r>
            <a:r>
              <a:rPr lang="ja-JP" altLang="en-US" sz="2000">
                <a:solidFill>
                  <a:srgbClr val="FF0000"/>
                </a:solidFill>
              </a:rPr>
              <a:t>交感</a:t>
            </a:r>
            <a:r>
              <a:rPr lang="en-US" altLang="ja-JP" sz="2000" dirty="0"/>
              <a:t>)</a:t>
            </a:r>
            <a:r>
              <a:rPr lang="ja-JP" altLang="en-US" sz="2000"/>
              <a:t>　　　・</a:t>
            </a:r>
            <a:r>
              <a:rPr lang="en-US" altLang="ja-JP" sz="2000" dirty="0"/>
              <a:t>SDNN</a:t>
            </a:r>
            <a:r>
              <a:rPr lang="ja-JP" altLang="en-US" sz="2000"/>
              <a:t>：標準偏差（</a:t>
            </a:r>
            <a:r>
              <a:rPr lang="ja-JP" altLang="en-US" sz="2000">
                <a:solidFill>
                  <a:schemeClr val="accent1"/>
                </a:solidFill>
              </a:rPr>
              <a:t>副交感</a:t>
            </a:r>
            <a:r>
              <a:rPr lang="ja-JP" altLang="en-US" sz="2000"/>
              <a:t>）</a:t>
            </a:r>
            <a:endParaRPr lang="en-US" altLang="ja-JP" sz="2000" dirty="0"/>
          </a:p>
          <a:p>
            <a:pPr marL="0" indent="0">
              <a:buNone/>
            </a:pPr>
            <a:r>
              <a:rPr lang="ja-JP" altLang="en-US" sz="2000"/>
              <a:t>　・</a:t>
            </a:r>
            <a:r>
              <a:rPr lang="en-US" altLang="ja-JP" sz="2000" dirty="0"/>
              <a:t>RMSSD</a:t>
            </a:r>
            <a:r>
              <a:rPr lang="ja-JP" altLang="en-US" sz="2000"/>
              <a:t>：隣り合う</a:t>
            </a:r>
            <a:r>
              <a:rPr lang="en-US" altLang="ja-JP" sz="2000" dirty="0"/>
              <a:t>RRI</a:t>
            </a:r>
            <a:r>
              <a:rPr lang="ja-JP" altLang="en-US" sz="2000"/>
              <a:t>の差の二乗平均</a:t>
            </a:r>
            <a:r>
              <a:rPr lang="en-US" altLang="ja-JP" sz="2000" dirty="0"/>
              <a:t>(</a:t>
            </a:r>
            <a:r>
              <a:rPr lang="ja-JP" altLang="en-US" sz="2000">
                <a:solidFill>
                  <a:schemeClr val="accent1"/>
                </a:solidFill>
              </a:rPr>
              <a:t>副交感</a:t>
            </a:r>
            <a:r>
              <a:rPr lang="en-US" altLang="ja-JP" sz="2000" dirty="0"/>
              <a:t>)</a:t>
            </a:r>
          </a:p>
          <a:p>
            <a:pPr marL="0" indent="0">
              <a:buNone/>
            </a:pPr>
            <a:r>
              <a:rPr lang="ja-JP" altLang="en-US" sz="2000"/>
              <a:t>　・</a:t>
            </a:r>
            <a:r>
              <a:rPr lang="en-US" altLang="ja-JP" sz="2000" dirty="0"/>
              <a:t>pNN50</a:t>
            </a:r>
            <a:r>
              <a:rPr lang="ja-JP" altLang="en-US" sz="2000"/>
              <a:t>：</a:t>
            </a:r>
            <a:r>
              <a:rPr lang="en-US" altLang="ja-JP" sz="2000" dirty="0"/>
              <a:t>RRI</a:t>
            </a:r>
            <a:r>
              <a:rPr lang="ja-JP" altLang="en-US" sz="2000"/>
              <a:t>の変動が</a:t>
            </a:r>
            <a:r>
              <a:rPr lang="en-US" altLang="ja-JP" sz="2000" dirty="0"/>
              <a:t>50msec</a:t>
            </a:r>
            <a:r>
              <a:rPr lang="ja-JP" altLang="en-US" sz="2000"/>
              <a:t>を超えたものの比率</a:t>
            </a:r>
            <a:r>
              <a:rPr lang="en-US" altLang="ja-JP" sz="2000" dirty="0"/>
              <a:t>(</a:t>
            </a:r>
            <a:r>
              <a:rPr lang="ja-JP" altLang="en-US" sz="2000">
                <a:solidFill>
                  <a:schemeClr val="accent1"/>
                </a:solidFill>
              </a:rPr>
              <a:t>副交感</a:t>
            </a:r>
            <a:r>
              <a:rPr lang="en-US" altLang="ja-JP" sz="2000" dirty="0"/>
              <a:t>)</a:t>
            </a:r>
          </a:p>
          <a:p>
            <a:pPr marL="0" indent="0">
              <a:buNone/>
            </a:pPr>
            <a:r>
              <a:rPr lang="ja-JP" altLang="en-US" sz="2000"/>
              <a:t>　・</a:t>
            </a:r>
            <a:r>
              <a:rPr lang="en-US" altLang="ja-JP" sz="2000" dirty="0"/>
              <a:t>LPS</a:t>
            </a:r>
            <a:r>
              <a:rPr lang="ja-JP" altLang="en-US" sz="2000"/>
              <a:t>：</a:t>
            </a:r>
            <a:r>
              <a:rPr lang="en-US" altLang="ja-JP" sz="2000" dirty="0"/>
              <a:t>LP</a:t>
            </a:r>
            <a:r>
              <a:rPr lang="ja-JP" altLang="en-US" sz="2000"/>
              <a:t>面積</a:t>
            </a:r>
            <a:r>
              <a:rPr lang="en-US" altLang="ja-JP" sz="2000" dirty="0"/>
              <a:t>(</a:t>
            </a:r>
            <a:r>
              <a:rPr lang="ja-JP" altLang="en-US" sz="2000">
                <a:solidFill>
                  <a:schemeClr val="accent1"/>
                </a:solidFill>
              </a:rPr>
              <a:t>副交感</a:t>
            </a:r>
            <a:r>
              <a:rPr lang="en-US" altLang="ja-JP" sz="2000" dirty="0"/>
              <a:t>)</a:t>
            </a:r>
          </a:p>
        </p:txBody>
      </p:sp>
    </p:spTree>
    <p:extLst>
      <p:ext uri="{BB962C8B-B14F-4D97-AF65-F5344CB8AC3E}">
        <p14:creationId xmlns:p14="http://schemas.microsoft.com/office/powerpoint/2010/main" val="1738196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13B032-C29C-0445-BF9A-8B3C0873B86D}"/>
              </a:ext>
            </a:extLst>
          </p:cNvPr>
          <p:cNvSpPr>
            <a:spLocks noGrp="1"/>
          </p:cNvSpPr>
          <p:nvPr>
            <p:ph type="title"/>
          </p:nvPr>
        </p:nvSpPr>
        <p:spPr/>
        <p:txBody>
          <a:bodyPr/>
          <a:lstStyle/>
          <a:p>
            <a:r>
              <a:rPr kumimoji="1" lang="ja-JP" altLang="en-US" b="1"/>
              <a:t>主観指標：</a:t>
            </a:r>
            <a:r>
              <a:rPr kumimoji="1" lang="en-US" altLang="ja-JP" b="1" dirty="0"/>
              <a:t>VAS</a:t>
            </a:r>
            <a:endParaRPr kumimoji="1" lang="ja-JP" altLang="en-US" b="1"/>
          </a:p>
        </p:txBody>
      </p:sp>
      <p:sp>
        <p:nvSpPr>
          <p:cNvPr id="3" name="コンテンツ プレースホルダー 2">
            <a:extLst>
              <a:ext uri="{FF2B5EF4-FFF2-40B4-BE49-F238E27FC236}">
                <a16:creationId xmlns:a16="http://schemas.microsoft.com/office/drawing/2014/main" id="{C5979267-00D5-0C4B-A328-878A173047B7}"/>
              </a:ext>
            </a:extLst>
          </p:cNvPr>
          <p:cNvSpPr>
            <a:spLocks noGrp="1"/>
          </p:cNvSpPr>
          <p:nvPr>
            <p:ph sz="half" idx="1"/>
          </p:nvPr>
        </p:nvSpPr>
        <p:spPr/>
        <p:txBody>
          <a:bodyPr>
            <a:normAutofit fontScale="92500" lnSpcReduction="20000"/>
          </a:bodyPr>
          <a:lstStyle/>
          <a:p>
            <a:pPr marL="0" indent="0">
              <a:buNone/>
            </a:pPr>
            <a:endParaRPr kumimoji="1" lang="en-US" altLang="ja-JP" sz="2000" dirty="0"/>
          </a:p>
          <a:p>
            <a:pPr marL="0" indent="0">
              <a:buNone/>
            </a:pPr>
            <a:endParaRPr lang="en-US" altLang="ja-JP" sz="2000" dirty="0"/>
          </a:p>
          <a:p>
            <a:pPr marL="0" indent="0">
              <a:buNone/>
            </a:pPr>
            <a:endParaRPr kumimoji="1" lang="en-US" altLang="ja-JP" sz="2000" dirty="0"/>
          </a:p>
          <a:p>
            <a:pPr marL="0" indent="0">
              <a:buNone/>
            </a:pPr>
            <a:endParaRPr lang="en-US" altLang="ja-JP" sz="2000" dirty="0"/>
          </a:p>
          <a:p>
            <a:pPr marL="0" indent="0">
              <a:buNone/>
            </a:pPr>
            <a:endParaRPr kumimoji="1" lang="en-US" altLang="ja-JP" sz="2000" dirty="0"/>
          </a:p>
          <a:p>
            <a:pPr marL="0" indent="0">
              <a:buNone/>
            </a:pPr>
            <a:endParaRPr lang="en-US" altLang="ja-JP" sz="2000" dirty="0"/>
          </a:p>
          <a:p>
            <a:pPr marL="0" indent="0">
              <a:buNone/>
            </a:pPr>
            <a:r>
              <a:rPr lang="en-US" altLang="ja-JP" sz="2000" dirty="0">
                <a:solidFill>
                  <a:schemeClr val="accent1"/>
                </a:solidFill>
              </a:rPr>
              <a:t>    </a:t>
            </a:r>
          </a:p>
          <a:p>
            <a:pPr marL="0" indent="0">
              <a:buNone/>
            </a:pPr>
            <a:r>
              <a:rPr lang="ja-JP" altLang="en-US" sz="2000">
                <a:solidFill>
                  <a:schemeClr val="accent1"/>
                </a:solidFill>
              </a:rPr>
              <a:t>　青：情動なし　</a:t>
            </a:r>
            <a:r>
              <a:rPr lang="ja-JP" altLang="en-US" sz="2000" b="1">
                <a:solidFill>
                  <a:srgbClr val="FFC000"/>
                </a:solidFill>
              </a:rPr>
              <a:t>黄色：情動あり</a:t>
            </a:r>
            <a:endParaRPr kumimoji="1" lang="en-US" altLang="ja-JP" sz="2000" dirty="0"/>
          </a:p>
          <a:p>
            <a:pPr marL="0" indent="0">
              <a:buNone/>
            </a:pPr>
            <a:r>
              <a:rPr lang="ja-JP" altLang="en-US" sz="2000"/>
              <a:t>○情動喚起の主効果</a:t>
            </a:r>
            <a:endParaRPr lang="en-US" altLang="ja-JP" sz="2000" dirty="0"/>
          </a:p>
          <a:p>
            <a:pPr marL="0" indent="0">
              <a:buNone/>
            </a:pPr>
            <a:r>
              <a:rPr lang="ja-JP" altLang="en-US" sz="2000"/>
              <a:t>　</a:t>
            </a:r>
            <a:r>
              <a:rPr lang="en-US" altLang="ja-JP" sz="2000" dirty="0"/>
              <a:t>F(1,6)=71.5   p=0.0001(&lt;.001)</a:t>
            </a:r>
          </a:p>
          <a:p>
            <a:pPr marL="0" indent="0">
              <a:buNone/>
            </a:pPr>
            <a:r>
              <a:rPr lang="ja-JP" altLang="en-US" sz="2000"/>
              <a:t>○</a:t>
            </a:r>
            <a:r>
              <a:rPr lang="en-US" altLang="ja-JP" sz="2000" dirty="0"/>
              <a:t>TP</a:t>
            </a:r>
            <a:r>
              <a:rPr lang="ja-JP" altLang="en-US" sz="2000"/>
              <a:t>の主効果</a:t>
            </a:r>
            <a:endParaRPr lang="en-US" altLang="ja-JP" sz="2000" dirty="0"/>
          </a:p>
          <a:p>
            <a:pPr marL="0" indent="0">
              <a:buNone/>
            </a:pPr>
            <a:r>
              <a:rPr lang="en-US" altLang="ja-JP" sz="2000" dirty="0"/>
              <a:t>    F(1,6)=4.2   p=0.0858(&lt;.10)</a:t>
            </a:r>
          </a:p>
          <a:p>
            <a:pPr marL="0" indent="0">
              <a:buNone/>
            </a:pPr>
            <a:r>
              <a:rPr lang="ja-JP" altLang="en-US" sz="2000"/>
              <a:t>○交互作用</a:t>
            </a:r>
            <a:endParaRPr lang="en-US" altLang="ja-JP" sz="2000" dirty="0"/>
          </a:p>
          <a:p>
            <a:pPr marL="0" indent="0">
              <a:buNone/>
            </a:pPr>
            <a:r>
              <a:rPr lang="en-US" altLang="ja-JP" sz="2000" dirty="0"/>
              <a:t>   F(1,6)=7.2   p=0.0363(&lt;.05)</a:t>
            </a:r>
          </a:p>
          <a:p>
            <a:pPr marL="0" indent="0">
              <a:buNone/>
            </a:pPr>
            <a:endParaRPr kumimoji="1" lang="ja-JP" altLang="en-US" sz="2000"/>
          </a:p>
        </p:txBody>
      </p:sp>
      <p:sp>
        <p:nvSpPr>
          <p:cNvPr id="4" name="コンテンツ プレースホルダー 3">
            <a:extLst>
              <a:ext uri="{FF2B5EF4-FFF2-40B4-BE49-F238E27FC236}">
                <a16:creationId xmlns:a16="http://schemas.microsoft.com/office/drawing/2014/main" id="{C0298EB4-1259-AF4C-B409-F03D24024818}"/>
              </a:ext>
            </a:extLst>
          </p:cNvPr>
          <p:cNvSpPr>
            <a:spLocks noGrp="1"/>
          </p:cNvSpPr>
          <p:nvPr>
            <p:ph sz="half" idx="2"/>
          </p:nvPr>
        </p:nvSpPr>
        <p:spPr>
          <a:xfrm>
            <a:off x="4629150" y="1242378"/>
            <a:ext cx="4331970" cy="5398451"/>
          </a:xfrm>
        </p:spPr>
        <p:txBody>
          <a:bodyPr>
            <a:normAutofit fontScale="92500" lnSpcReduction="20000"/>
          </a:bodyPr>
          <a:lstStyle/>
          <a:p>
            <a:pPr marL="0" indent="0">
              <a:buNone/>
            </a:pPr>
            <a:r>
              <a:rPr lang="ja-JP" altLang="en-US" sz="1800"/>
              <a:t>二要因分散分析の結果</a:t>
            </a:r>
            <a:endParaRPr lang="en-US" altLang="ja-JP" sz="1800" dirty="0"/>
          </a:p>
          <a:p>
            <a:pPr marL="0" indent="0">
              <a:buNone/>
            </a:pPr>
            <a:r>
              <a:rPr kumimoji="1" lang="ja-JP" altLang="en-US" sz="1800">
                <a:solidFill>
                  <a:srgbClr val="C00000"/>
                </a:solidFill>
              </a:rPr>
              <a:t>　・情動喚起と</a:t>
            </a:r>
            <a:r>
              <a:rPr lang="ja-JP" altLang="en-US" sz="1800">
                <a:solidFill>
                  <a:srgbClr val="C00000"/>
                </a:solidFill>
              </a:rPr>
              <a:t>交互作用が有意</a:t>
            </a:r>
            <a:endParaRPr lang="en-US" altLang="ja-JP" sz="1800" dirty="0">
              <a:solidFill>
                <a:srgbClr val="C00000"/>
              </a:solidFill>
            </a:endParaRPr>
          </a:p>
          <a:p>
            <a:pPr marL="0" indent="0">
              <a:buNone/>
            </a:pPr>
            <a:r>
              <a:rPr lang="ja-JP" altLang="en-US" sz="1800">
                <a:solidFill>
                  <a:srgbClr val="C00000"/>
                </a:solidFill>
              </a:rPr>
              <a:t>　・</a:t>
            </a:r>
            <a:r>
              <a:rPr lang="en-US" altLang="ja-JP" sz="1800" dirty="0">
                <a:solidFill>
                  <a:srgbClr val="C00000"/>
                </a:solidFill>
              </a:rPr>
              <a:t>TP</a:t>
            </a:r>
            <a:r>
              <a:rPr lang="ja-JP" altLang="en-US" sz="1800">
                <a:solidFill>
                  <a:srgbClr val="C00000"/>
                </a:solidFill>
              </a:rPr>
              <a:t>の主効果が有意傾向</a:t>
            </a:r>
            <a:endParaRPr lang="en-US" altLang="ja-JP" sz="1800" dirty="0">
              <a:solidFill>
                <a:srgbClr val="C00000"/>
              </a:solidFill>
            </a:endParaRPr>
          </a:p>
          <a:p>
            <a:pPr marL="0" indent="0">
              <a:buNone/>
            </a:pPr>
            <a:r>
              <a:rPr kumimoji="1" lang="ja-JP" altLang="en-US" sz="1800"/>
              <a:t>・情動の主効果について、</a:t>
            </a:r>
            <a:endParaRPr kumimoji="1" lang="en-US" altLang="ja-JP" sz="1800" dirty="0"/>
          </a:p>
          <a:p>
            <a:pPr marL="0" indent="0">
              <a:buNone/>
            </a:pPr>
            <a:r>
              <a:rPr kumimoji="1" lang="ja-JP" altLang="en-US" sz="1800"/>
              <a:t>フィードバックによる</a:t>
            </a:r>
            <a:r>
              <a:rPr kumimoji="1" lang="ja-JP" altLang="en-US" sz="1800" u="sng"/>
              <a:t>不快情動の情動喚起</a:t>
            </a:r>
            <a:r>
              <a:rPr kumimoji="1" lang="ja-JP" altLang="en-US" sz="1800"/>
              <a:t>は成功していると判断</a:t>
            </a:r>
            <a:endParaRPr kumimoji="1" lang="en-US" altLang="ja-JP" sz="1800" dirty="0"/>
          </a:p>
          <a:p>
            <a:pPr marL="0" indent="0">
              <a:buNone/>
            </a:pPr>
            <a:endParaRPr kumimoji="1" lang="en-US" altLang="ja-JP" sz="1800" dirty="0"/>
          </a:p>
          <a:p>
            <a:pPr marL="0" indent="0">
              <a:buNone/>
            </a:pPr>
            <a:r>
              <a:rPr kumimoji="1" lang="ja-JP" altLang="en-US" sz="1800"/>
              <a:t>・</a:t>
            </a:r>
            <a:r>
              <a:rPr kumimoji="1" lang="en-US" altLang="ja-JP" sz="1800" dirty="0"/>
              <a:t>TP</a:t>
            </a:r>
            <a:r>
              <a:rPr kumimoji="1" lang="ja-JP" altLang="en-US" sz="1800"/>
              <a:t>の主効果について、</a:t>
            </a:r>
            <a:endParaRPr kumimoji="1" lang="en-US" altLang="ja-JP" sz="1800" dirty="0"/>
          </a:p>
          <a:p>
            <a:pPr marL="0" indent="0">
              <a:buNone/>
            </a:pPr>
            <a:r>
              <a:rPr kumimoji="1" lang="en-US" altLang="ja-JP" sz="1800" dirty="0"/>
              <a:t>TP</a:t>
            </a:r>
            <a:r>
              <a:rPr lang="ja-JP" altLang="en-US" sz="1800"/>
              <a:t>による焦りなども情動の生起に関わっている？</a:t>
            </a:r>
            <a:endParaRPr lang="en-US" altLang="ja-JP" sz="1800" dirty="0"/>
          </a:p>
          <a:p>
            <a:pPr marL="0" indent="0">
              <a:buNone/>
            </a:pPr>
            <a:endParaRPr lang="en-US" altLang="ja-JP" sz="1800" dirty="0"/>
          </a:p>
          <a:p>
            <a:pPr marL="0" indent="0">
              <a:buNone/>
            </a:pPr>
            <a:r>
              <a:rPr lang="ja-JP" altLang="en-US" sz="1800"/>
              <a:t>・交互作用について</a:t>
            </a:r>
            <a:endParaRPr lang="en-US" altLang="ja-JP" sz="1800" dirty="0"/>
          </a:p>
          <a:p>
            <a:pPr marL="0" indent="0">
              <a:buNone/>
            </a:pPr>
            <a:r>
              <a:rPr lang="ja-JP" altLang="en-US" sz="1800"/>
              <a:t>下位検定の検討</a:t>
            </a:r>
            <a:endParaRPr lang="en-US" altLang="ja-JP" sz="1800" dirty="0"/>
          </a:p>
          <a:p>
            <a:pPr marL="0" indent="0">
              <a:buNone/>
            </a:pPr>
            <a:endParaRPr lang="en-US" altLang="ja-JP" sz="1800" dirty="0"/>
          </a:p>
          <a:p>
            <a:pPr marL="0" indent="0">
              <a:buNone/>
            </a:pPr>
            <a:r>
              <a:rPr lang="ja-JP" altLang="en-US" sz="1800"/>
              <a:t>⇨</a:t>
            </a:r>
            <a:r>
              <a:rPr lang="ja-JP" altLang="en-US" sz="1800">
                <a:solidFill>
                  <a:srgbClr val="C00000"/>
                </a:solidFill>
              </a:rPr>
              <a:t>情動の主効果が極めて有意であったことから条件設定は妥当だと判断</a:t>
            </a:r>
            <a:endParaRPr kumimoji="1" lang="en-US" altLang="ja-JP" sz="1800" dirty="0">
              <a:solidFill>
                <a:srgbClr val="C00000"/>
              </a:solidFill>
            </a:endParaRPr>
          </a:p>
          <a:p>
            <a:pPr marL="0" indent="0">
              <a:buNone/>
            </a:pPr>
            <a:endParaRPr lang="en-US" altLang="ja-JP" sz="1800" dirty="0"/>
          </a:p>
        </p:txBody>
      </p:sp>
      <p:pic>
        <p:nvPicPr>
          <p:cNvPr id="5" name="コンテンツ プレースホルダー 5" descr="グラフ, 折れ線グラフ&#10;&#10;自動的に生成された説明">
            <a:extLst>
              <a:ext uri="{FF2B5EF4-FFF2-40B4-BE49-F238E27FC236}">
                <a16:creationId xmlns:a16="http://schemas.microsoft.com/office/drawing/2014/main" id="{8EBC3CFF-C561-144E-9CB7-6F1881D83505}"/>
              </a:ext>
            </a:extLst>
          </p:cNvPr>
          <p:cNvPicPr>
            <a:picLocks noChangeAspect="1"/>
          </p:cNvPicPr>
          <p:nvPr/>
        </p:nvPicPr>
        <p:blipFill>
          <a:blip r:embed="rId2"/>
          <a:stretch>
            <a:fillRect/>
          </a:stretch>
        </p:blipFill>
        <p:spPr>
          <a:xfrm>
            <a:off x="296862" y="1062991"/>
            <a:ext cx="4332288" cy="2423291"/>
          </a:xfrm>
          <a:prstGeom prst="rect">
            <a:avLst/>
          </a:prstGeom>
        </p:spPr>
      </p:pic>
    </p:spTree>
    <p:extLst>
      <p:ext uri="{BB962C8B-B14F-4D97-AF65-F5344CB8AC3E}">
        <p14:creationId xmlns:p14="http://schemas.microsoft.com/office/powerpoint/2010/main" val="3598544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9A5918-4113-4E41-BBD1-93653BEBD2E5}"/>
              </a:ext>
            </a:extLst>
          </p:cNvPr>
          <p:cNvSpPr>
            <a:spLocks noGrp="1"/>
          </p:cNvSpPr>
          <p:nvPr>
            <p:ph type="title"/>
          </p:nvPr>
        </p:nvSpPr>
        <p:spPr/>
        <p:txBody>
          <a:bodyPr/>
          <a:lstStyle/>
          <a:p>
            <a:r>
              <a:rPr kumimoji="1" lang="ja-JP" altLang="en-US" b="1"/>
              <a:t>主観指標：</a:t>
            </a:r>
            <a:r>
              <a:rPr kumimoji="1" lang="en-US" altLang="ja-JP" b="1" dirty="0"/>
              <a:t>TP</a:t>
            </a:r>
            <a:endParaRPr kumimoji="1" lang="ja-JP" altLang="en-US" b="1"/>
          </a:p>
        </p:txBody>
      </p:sp>
      <p:sp>
        <p:nvSpPr>
          <p:cNvPr id="3" name="コンテンツ プレースホルダー 2">
            <a:extLst>
              <a:ext uri="{FF2B5EF4-FFF2-40B4-BE49-F238E27FC236}">
                <a16:creationId xmlns:a16="http://schemas.microsoft.com/office/drawing/2014/main" id="{C55EF26B-825E-3A42-9880-4BB3303A40DF}"/>
              </a:ext>
            </a:extLst>
          </p:cNvPr>
          <p:cNvSpPr>
            <a:spLocks noGrp="1"/>
          </p:cNvSpPr>
          <p:nvPr>
            <p:ph sz="half" idx="1"/>
          </p:nvPr>
        </p:nvSpPr>
        <p:spPr/>
        <p:txBody>
          <a:bodyPr>
            <a:normAutofit fontScale="92500" lnSpcReduction="20000"/>
          </a:bodyPr>
          <a:lstStyle/>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r>
              <a:rPr lang="en-US" altLang="ja-JP" sz="2000" dirty="0">
                <a:solidFill>
                  <a:schemeClr val="accent1"/>
                </a:solidFill>
              </a:rPr>
              <a:t>    </a:t>
            </a:r>
          </a:p>
          <a:p>
            <a:pPr marL="0" indent="0">
              <a:buNone/>
            </a:pPr>
            <a:r>
              <a:rPr lang="ja-JP" altLang="en-US" sz="2000">
                <a:solidFill>
                  <a:schemeClr val="accent1"/>
                </a:solidFill>
              </a:rPr>
              <a:t>　青：情動なし　</a:t>
            </a:r>
            <a:r>
              <a:rPr lang="ja-JP" altLang="en-US" sz="2000" b="1">
                <a:solidFill>
                  <a:srgbClr val="FFC000"/>
                </a:solidFill>
              </a:rPr>
              <a:t>黄色：情動あり</a:t>
            </a:r>
            <a:endParaRPr lang="en-US" altLang="ja-JP" sz="2000" dirty="0"/>
          </a:p>
          <a:p>
            <a:pPr marL="0" indent="0">
              <a:buNone/>
            </a:pPr>
            <a:r>
              <a:rPr lang="ja-JP" altLang="en-US" sz="2000"/>
              <a:t>○情動喚起の主効果</a:t>
            </a:r>
            <a:endParaRPr lang="en-US" altLang="ja-JP" sz="2000" dirty="0"/>
          </a:p>
          <a:p>
            <a:pPr marL="0" indent="0">
              <a:buNone/>
            </a:pPr>
            <a:r>
              <a:rPr lang="ja-JP" altLang="en-US" sz="2000"/>
              <a:t>　</a:t>
            </a:r>
            <a:r>
              <a:rPr lang="en-US" altLang="ja-JP" sz="2000" dirty="0"/>
              <a:t>F(1,6)=0.89   p=0.3826 ns</a:t>
            </a:r>
          </a:p>
          <a:p>
            <a:pPr marL="0" indent="0">
              <a:buNone/>
            </a:pPr>
            <a:r>
              <a:rPr lang="ja-JP" altLang="en-US" sz="2000"/>
              <a:t>○</a:t>
            </a:r>
            <a:r>
              <a:rPr lang="en-US" altLang="ja-JP" sz="2000" dirty="0"/>
              <a:t>TP</a:t>
            </a:r>
            <a:r>
              <a:rPr lang="ja-JP" altLang="en-US" sz="2000"/>
              <a:t>の主効果</a:t>
            </a:r>
            <a:endParaRPr lang="en-US" altLang="ja-JP" sz="2000" dirty="0"/>
          </a:p>
          <a:p>
            <a:pPr marL="0" indent="0">
              <a:buNone/>
            </a:pPr>
            <a:r>
              <a:rPr lang="en-US" altLang="ja-JP" sz="2000" dirty="0"/>
              <a:t>    F(1,6)=46.78   p=0.0005(&lt;.001)</a:t>
            </a:r>
          </a:p>
          <a:p>
            <a:pPr marL="0" indent="0">
              <a:buNone/>
            </a:pPr>
            <a:r>
              <a:rPr lang="ja-JP" altLang="en-US" sz="2000"/>
              <a:t>○交互作用</a:t>
            </a:r>
            <a:endParaRPr lang="en-US" altLang="ja-JP" sz="2000" dirty="0"/>
          </a:p>
          <a:p>
            <a:pPr marL="0" indent="0">
              <a:buNone/>
            </a:pPr>
            <a:r>
              <a:rPr lang="en-US" altLang="ja-JP" sz="2000" dirty="0"/>
              <a:t>   F(1,6)=2.51   p=0.1641 ns</a:t>
            </a:r>
          </a:p>
          <a:p>
            <a:pPr marL="0" indent="0">
              <a:buNone/>
            </a:pPr>
            <a:endParaRPr kumimoji="1" lang="ja-JP" altLang="en-US" sz="2000"/>
          </a:p>
        </p:txBody>
      </p:sp>
      <p:sp>
        <p:nvSpPr>
          <p:cNvPr id="4" name="コンテンツ プレースホルダー 3">
            <a:extLst>
              <a:ext uri="{FF2B5EF4-FFF2-40B4-BE49-F238E27FC236}">
                <a16:creationId xmlns:a16="http://schemas.microsoft.com/office/drawing/2014/main" id="{AF2004D5-8898-3C47-8702-EF986B6083B8}"/>
              </a:ext>
            </a:extLst>
          </p:cNvPr>
          <p:cNvSpPr>
            <a:spLocks noGrp="1"/>
          </p:cNvSpPr>
          <p:nvPr>
            <p:ph sz="half" idx="2"/>
          </p:nvPr>
        </p:nvSpPr>
        <p:spPr>
          <a:xfrm>
            <a:off x="4629150" y="1242379"/>
            <a:ext cx="4331970" cy="5189952"/>
          </a:xfrm>
        </p:spPr>
        <p:txBody>
          <a:bodyPr>
            <a:normAutofit fontScale="92500" lnSpcReduction="20000"/>
          </a:bodyPr>
          <a:lstStyle/>
          <a:p>
            <a:pPr marL="0" indent="0">
              <a:buNone/>
            </a:pPr>
            <a:r>
              <a:rPr lang="ja-JP" altLang="en-US" sz="1800"/>
              <a:t>二要因分散分析の結果</a:t>
            </a:r>
            <a:endParaRPr lang="en-US" altLang="ja-JP" sz="1800" dirty="0"/>
          </a:p>
          <a:p>
            <a:pPr marL="0" indent="0">
              <a:buNone/>
            </a:pPr>
            <a:r>
              <a:rPr kumimoji="1" lang="ja-JP" altLang="en-US" sz="1800"/>
              <a:t>　</a:t>
            </a:r>
            <a:r>
              <a:rPr kumimoji="1" lang="ja-JP" altLang="en-US" sz="1800">
                <a:solidFill>
                  <a:srgbClr val="C00000"/>
                </a:solidFill>
              </a:rPr>
              <a:t>・</a:t>
            </a:r>
            <a:r>
              <a:rPr kumimoji="1" lang="en-US" altLang="ja-JP" sz="1800" dirty="0">
                <a:solidFill>
                  <a:srgbClr val="C00000"/>
                </a:solidFill>
              </a:rPr>
              <a:t>TP</a:t>
            </a:r>
            <a:r>
              <a:rPr kumimoji="1" lang="ja-JP" altLang="en-US" sz="1800">
                <a:solidFill>
                  <a:srgbClr val="C00000"/>
                </a:solidFill>
              </a:rPr>
              <a:t>の主効果のみが有意</a:t>
            </a:r>
            <a:endParaRPr kumimoji="1" lang="en-US" altLang="ja-JP" sz="1800" dirty="0">
              <a:solidFill>
                <a:srgbClr val="C00000"/>
              </a:solidFill>
            </a:endParaRPr>
          </a:p>
          <a:p>
            <a:pPr marL="0" indent="0">
              <a:buNone/>
            </a:pPr>
            <a:r>
              <a:rPr kumimoji="1" lang="ja-JP" altLang="en-US" sz="1800"/>
              <a:t>であった。</a:t>
            </a:r>
            <a:endParaRPr kumimoji="1" lang="en-US" altLang="ja-JP" sz="1800" dirty="0"/>
          </a:p>
          <a:p>
            <a:pPr marL="0" indent="0">
              <a:buNone/>
            </a:pPr>
            <a:r>
              <a:rPr kumimoji="1" lang="ja-JP" altLang="en-US" sz="1800"/>
              <a:t>⇨</a:t>
            </a:r>
            <a:r>
              <a:rPr kumimoji="1" lang="en-US" altLang="ja-JP" sz="1800" dirty="0"/>
              <a:t>TP</a:t>
            </a:r>
            <a:r>
              <a:rPr kumimoji="1" lang="ja-JP" altLang="en-US" sz="1800"/>
              <a:t>の設定は妥当であったと判断</a:t>
            </a:r>
            <a:endParaRPr kumimoji="1" lang="en-US" altLang="ja-JP" sz="1800" dirty="0"/>
          </a:p>
          <a:p>
            <a:pPr marL="0" indent="0">
              <a:buNone/>
            </a:pPr>
            <a:endParaRPr lang="en-US" altLang="ja-JP" sz="1800" dirty="0"/>
          </a:p>
          <a:p>
            <a:pPr marL="0" indent="0">
              <a:buNone/>
            </a:pPr>
            <a:r>
              <a:rPr kumimoji="1" lang="ja-JP" altLang="en-US" sz="1800"/>
              <a:t>・情動条件の</a:t>
            </a:r>
            <a:r>
              <a:rPr kumimoji="1" lang="en-US" altLang="ja-JP" sz="1800" dirty="0"/>
              <a:t>TP</a:t>
            </a:r>
            <a:r>
              <a:rPr kumimoji="1" lang="ja-JP" altLang="en-US" sz="1800"/>
              <a:t>が比較的に小さい</a:t>
            </a:r>
            <a:endParaRPr kumimoji="1" lang="en-US" altLang="ja-JP" sz="1800" dirty="0"/>
          </a:p>
          <a:p>
            <a:pPr marL="0" indent="0">
              <a:buNone/>
            </a:pPr>
            <a:r>
              <a:rPr kumimoji="1" lang="ja-JP" altLang="en-US" sz="1800"/>
              <a:t>先行研究</a:t>
            </a:r>
            <a:r>
              <a:rPr kumimoji="1" lang="en-US" altLang="ja-JP" sz="1100" dirty="0"/>
              <a:t>[1]</a:t>
            </a:r>
            <a:r>
              <a:rPr kumimoji="1" lang="ja-JP" altLang="en-US" sz="1800"/>
              <a:t>において、</a:t>
            </a:r>
            <a:endParaRPr lang="en-US" altLang="ja-JP" sz="1800" dirty="0"/>
          </a:p>
          <a:p>
            <a:pPr marL="0" indent="0">
              <a:buNone/>
            </a:pPr>
            <a:r>
              <a:rPr lang="ja-JP" altLang="en-US" sz="1800"/>
              <a:t>　認知資源を多く要する課題において、</a:t>
            </a:r>
            <a:endParaRPr lang="en-US" altLang="ja-JP" sz="1800" dirty="0"/>
          </a:p>
          <a:p>
            <a:pPr marL="0" indent="0">
              <a:buNone/>
            </a:pPr>
            <a:r>
              <a:rPr lang="ja-JP" altLang="en-US" sz="1800"/>
              <a:t>　時間経過の表示がより強く</a:t>
            </a:r>
            <a:r>
              <a:rPr lang="en-US" altLang="ja-JP" sz="1800" dirty="0"/>
              <a:t>TP</a:t>
            </a:r>
            <a:r>
              <a:rPr lang="ja-JP" altLang="en-US" sz="1800"/>
              <a:t>を感じさ</a:t>
            </a:r>
            <a:endParaRPr lang="en-US" altLang="ja-JP" sz="1800" dirty="0"/>
          </a:p>
          <a:p>
            <a:pPr marL="0" indent="0">
              <a:buNone/>
            </a:pPr>
            <a:r>
              <a:rPr lang="ja-JP" altLang="en-US" sz="1800"/>
              <a:t>　せることが示されている．</a:t>
            </a:r>
            <a:endParaRPr lang="en-US" altLang="ja-JP" sz="1800" dirty="0"/>
          </a:p>
          <a:p>
            <a:pPr marL="0" indent="0">
              <a:buNone/>
            </a:pPr>
            <a:r>
              <a:rPr lang="ja-JP" altLang="en-US" sz="1800"/>
              <a:t>→残存時間を意識することによって、</a:t>
            </a:r>
            <a:endParaRPr lang="en-US" altLang="ja-JP" sz="1800" dirty="0"/>
          </a:p>
          <a:p>
            <a:pPr marL="0" indent="0">
              <a:buNone/>
            </a:pPr>
            <a:r>
              <a:rPr lang="ja-JP" altLang="en-US" sz="1800"/>
              <a:t>　より強い</a:t>
            </a:r>
            <a:r>
              <a:rPr lang="en-US" altLang="ja-JP" sz="1800" dirty="0"/>
              <a:t>TP</a:t>
            </a:r>
            <a:r>
              <a:rPr lang="ja-JP" altLang="en-US" sz="1800"/>
              <a:t>を感じると考えられる</a:t>
            </a:r>
            <a:endParaRPr lang="en-US" altLang="ja-JP" sz="1800" dirty="0"/>
          </a:p>
          <a:p>
            <a:pPr marL="0" indent="0">
              <a:buNone/>
            </a:pPr>
            <a:r>
              <a:rPr lang="ja-JP" altLang="en-US" sz="1800"/>
              <a:t>→</a:t>
            </a:r>
            <a:r>
              <a:rPr lang="ja-JP" altLang="en-US" sz="1800">
                <a:solidFill>
                  <a:srgbClr val="C00000"/>
                </a:solidFill>
              </a:rPr>
              <a:t>脅威情報に注意が向けられることで</a:t>
            </a:r>
            <a:endParaRPr lang="en-US" altLang="ja-JP" sz="1800" dirty="0">
              <a:solidFill>
                <a:srgbClr val="C00000"/>
              </a:solidFill>
            </a:endParaRPr>
          </a:p>
          <a:p>
            <a:pPr marL="0" indent="0">
              <a:buNone/>
            </a:pPr>
            <a:r>
              <a:rPr lang="ja-JP" altLang="en-US" sz="1800">
                <a:solidFill>
                  <a:srgbClr val="C00000"/>
                </a:solidFill>
              </a:rPr>
              <a:t>　時間への注意が妨害された</a:t>
            </a:r>
            <a:r>
              <a:rPr lang="ja-JP" altLang="en-US" sz="1800"/>
              <a:t>と考えられる</a:t>
            </a:r>
            <a:endParaRPr lang="en-US" altLang="ja-JP" sz="1800" dirty="0"/>
          </a:p>
          <a:p>
            <a:pPr marL="0" indent="0">
              <a:buNone/>
            </a:pPr>
            <a:r>
              <a:rPr lang="en-US" altLang="ja-JP" sz="1000" dirty="0"/>
              <a:t>[1]</a:t>
            </a:r>
            <a:r>
              <a:rPr lang="ja-JP" altLang="en-US" sz="1100"/>
              <a:t>時間的制約によるタイムプレッシャーと時間評価の関係に関する研究</a:t>
            </a:r>
            <a:endParaRPr lang="en-US" altLang="ja-JP" sz="1100" dirty="0"/>
          </a:p>
          <a:p>
            <a:pPr marL="0" indent="0">
              <a:buNone/>
            </a:pPr>
            <a:r>
              <a:rPr lang="en-US" altLang="ja-JP" sz="1100" dirty="0"/>
              <a:t>     - </a:t>
            </a:r>
            <a:r>
              <a:rPr lang="ja-JP" altLang="en-US" sz="1100"/>
              <a:t>辛島光彦　山崎寛享 </a:t>
            </a:r>
          </a:p>
          <a:p>
            <a:pPr marL="0" indent="0">
              <a:buNone/>
            </a:pPr>
            <a:endParaRPr lang="ja-JP" altLang="en-US" sz="1100"/>
          </a:p>
          <a:p>
            <a:pPr marL="0" indent="0">
              <a:buNone/>
            </a:pPr>
            <a:endParaRPr lang="en-US" altLang="ja-JP" sz="1100" dirty="0"/>
          </a:p>
        </p:txBody>
      </p:sp>
      <p:pic>
        <p:nvPicPr>
          <p:cNvPr id="6" name="図 5" descr="グラフ, 折れ線グラフ&#10;&#10;自動的に生成された説明">
            <a:extLst>
              <a:ext uri="{FF2B5EF4-FFF2-40B4-BE49-F238E27FC236}">
                <a16:creationId xmlns:a16="http://schemas.microsoft.com/office/drawing/2014/main" id="{298EB5A5-319E-B44E-978B-25101517EC3F}"/>
              </a:ext>
            </a:extLst>
          </p:cNvPr>
          <p:cNvPicPr>
            <a:picLocks noChangeAspect="1"/>
          </p:cNvPicPr>
          <p:nvPr/>
        </p:nvPicPr>
        <p:blipFill>
          <a:blip r:embed="rId2"/>
          <a:stretch>
            <a:fillRect/>
          </a:stretch>
        </p:blipFill>
        <p:spPr>
          <a:xfrm>
            <a:off x="330144" y="1088259"/>
            <a:ext cx="4184706" cy="2340741"/>
          </a:xfrm>
          <a:prstGeom prst="rect">
            <a:avLst/>
          </a:prstGeom>
        </p:spPr>
      </p:pic>
    </p:spTree>
    <p:extLst>
      <p:ext uri="{BB962C8B-B14F-4D97-AF65-F5344CB8AC3E}">
        <p14:creationId xmlns:p14="http://schemas.microsoft.com/office/powerpoint/2010/main" val="1154506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E2E23B-A935-A147-BE86-7C986E0C2438}"/>
              </a:ext>
            </a:extLst>
          </p:cNvPr>
          <p:cNvSpPr>
            <a:spLocks noGrp="1"/>
          </p:cNvSpPr>
          <p:nvPr>
            <p:ph type="title"/>
          </p:nvPr>
        </p:nvSpPr>
        <p:spPr/>
        <p:txBody>
          <a:bodyPr/>
          <a:lstStyle/>
          <a:p>
            <a:r>
              <a:rPr kumimoji="1" lang="ja-JP" altLang="en-US" b="1"/>
              <a:t>主観指標：</a:t>
            </a:r>
            <a:r>
              <a:rPr kumimoji="1" lang="en-US" altLang="ja-JP" b="1" dirty="0"/>
              <a:t>WWL</a:t>
            </a:r>
            <a:endParaRPr kumimoji="1" lang="ja-JP" altLang="en-US" b="1"/>
          </a:p>
        </p:txBody>
      </p:sp>
      <p:sp>
        <p:nvSpPr>
          <p:cNvPr id="3" name="コンテンツ プレースホルダー 2">
            <a:extLst>
              <a:ext uri="{FF2B5EF4-FFF2-40B4-BE49-F238E27FC236}">
                <a16:creationId xmlns:a16="http://schemas.microsoft.com/office/drawing/2014/main" id="{41D4D175-392E-124B-B5A2-A828349B3A40}"/>
              </a:ext>
            </a:extLst>
          </p:cNvPr>
          <p:cNvSpPr>
            <a:spLocks noGrp="1"/>
          </p:cNvSpPr>
          <p:nvPr>
            <p:ph sz="half" idx="1"/>
          </p:nvPr>
        </p:nvSpPr>
        <p:spPr/>
        <p:txBody>
          <a:bodyPr>
            <a:normAutofit fontScale="92500" lnSpcReduction="20000"/>
          </a:bodyPr>
          <a:lstStyle/>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r>
              <a:rPr lang="en-US" altLang="ja-JP" sz="2000" dirty="0">
                <a:solidFill>
                  <a:schemeClr val="accent1"/>
                </a:solidFill>
              </a:rPr>
              <a:t>    </a:t>
            </a:r>
          </a:p>
          <a:p>
            <a:pPr marL="0" indent="0">
              <a:buNone/>
            </a:pPr>
            <a:r>
              <a:rPr lang="ja-JP" altLang="en-US" sz="2000">
                <a:solidFill>
                  <a:schemeClr val="accent1"/>
                </a:solidFill>
              </a:rPr>
              <a:t>　青：情動なし　</a:t>
            </a:r>
            <a:r>
              <a:rPr lang="ja-JP" altLang="en-US" sz="2000" b="1">
                <a:solidFill>
                  <a:srgbClr val="FFC000"/>
                </a:solidFill>
              </a:rPr>
              <a:t>黄色：情動あり</a:t>
            </a:r>
            <a:endParaRPr lang="en-US" altLang="ja-JP" sz="2000" dirty="0"/>
          </a:p>
          <a:p>
            <a:pPr marL="0" indent="0">
              <a:buNone/>
            </a:pPr>
            <a:r>
              <a:rPr lang="ja-JP" altLang="en-US" sz="2000"/>
              <a:t>○情動喚起の主効果</a:t>
            </a:r>
            <a:endParaRPr lang="en-US" altLang="ja-JP" sz="2000" dirty="0"/>
          </a:p>
          <a:p>
            <a:pPr marL="0" indent="0">
              <a:buNone/>
            </a:pPr>
            <a:r>
              <a:rPr lang="ja-JP" altLang="en-US" sz="2000"/>
              <a:t>　</a:t>
            </a:r>
            <a:r>
              <a:rPr lang="en-US" altLang="ja-JP" sz="2000" dirty="0"/>
              <a:t>F(1,6)=32.91   p=0.0012 (&lt;.01)</a:t>
            </a:r>
          </a:p>
          <a:p>
            <a:pPr marL="0" indent="0">
              <a:buNone/>
            </a:pPr>
            <a:r>
              <a:rPr lang="ja-JP" altLang="en-US" sz="2000"/>
              <a:t>○</a:t>
            </a:r>
            <a:r>
              <a:rPr lang="en-US" altLang="ja-JP" sz="2000" dirty="0"/>
              <a:t>TP</a:t>
            </a:r>
            <a:r>
              <a:rPr lang="ja-JP" altLang="en-US" sz="2000"/>
              <a:t>の主効果</a:t>
            </a:r>
            <a:endParaRPr lang="en-US" altLang="ja-JP" sz="2000" dirty="0"/>
          </a:p>
          <a:p>
            <a:pPr marL="0" indent="0">
              <a:buNone/>
            </a:pPr>
            <a:r>
              <a:rPr lang="en-US" altLang="ja-JP" sz="2000" dirty="0"/>
              <a:t>    F(1,6)=11.80   p=0.0139(&lt;.05)</a:t>
            </a:r>
          </a:p>
          <a:p>
            <a:pPr marL="0" indent="0">
              <a:buNone/>
            </a:pPr>
            <a:r>
              <a:rPr lang="ja-JP" altLang="en-US" sz="2000"/>
              <a:t>○交互作用</a:t>
            </a:r>
            <a:endParaRPr lang="en-US" altLang="ja-JP" sz="2000" dirty="0"/>
          </a:p>
          <a:p>
            <a:pPr marL="0" indent="0">
              <a:buNone/>
            </a:pPr>
            <a:r>
              <a:rPr lang="en-US" altLang="ja-JP" sz="2000" dirty="0"/>
              <a:t>   F(1,6)=2.97   p=0.1352 ns</a:t>
            </a:r>
          </a:p>
          <a:p>
            <a:pPr marL="0" indent="0">
              <a:buNone/>
            </a:pPr>
            <a:endParaRPr kumimoji="1" lang="ja-JP" altLang="en-US" sz="2000"/>
          </a:p>
        </p:txBody>
      </p:sp>
      <p:sp>
        <p:nvSpPr>
          <p:cNvPr id="4" name="コンテンツ プレースホルダー 3">
            <a:extLst>
              <a:ext uri="{FF2B5EF4-FFF2-40B4-BE49-F238E27FC236}">
                <a16:creationId xmlns:a16="http://schemas.microsoft.com/office/drawing/2014/main" id="{44AC1371-04B9-014B-8D7C-33B9999A6F2A}"/>
              </a:ext>
            </a:extLst>
          </p:cNvPr>
          <p:cNvSpPr>
            <a:spLocks noGrp="1"/>
          </p:cNvSpPr>
          <p:nvPr>
            <p:ph sz="half" idx="2"/>
          </p:nvPr>
        </p:nvSpPr>
        <p:spPr/>
        <p:txBody>
          <a:bodyPr>
            <a:normAutofit fontScale="92500" lnSpcReduction="20000"/>
          </a:bodyPr>
          <a:lstStyle/>
          <a:p>
            <a:pPr marL="0" indent="0">
              <a:buNone/>
            </a:pPr>
            <a:r>
              <a:rPr lang="ja-JP" altLang="en-US" sz="1800"/>
              <a:t>二要因分散分析の結果、</a:t>
            </a:r>
            <a:endParaRPr lang="en-US" altLang="ja-JP" sz="1800" dirty="0"/>
          </a:p>
          <a:p>
            <a:pPr marL="0" indent="0">
              <a:buNone/>
            </a:pPr>
            <a:r>
              <a:rPr lang="ja-JP" altLang="en-US" sz="1800"/>
              <a:t>　・</a:t>
            </a:r>
            <a:r>
              <a:rPr lang="ja-JP" altLang="en-US" sz="1800">
                <a:solidFill>
                  <a:srgbClr val="C00000"/>
                </a:solidFill>
              </a:rPr>
              <a:t>情動喚起と</a:t>
            </a:r>
            <a:r>
              <a:rPr lang="en-US" altLang="ja-JP" sz="1800" dirty="0">
                <a:solidFill>
                  <a:srgbClr val="C00000"/>
                </a:solidFill>
              </a:rPr>
              <a:t>TP</a:t>
            </a:r>
            <a:r>
              <a:rPr lang="ja-JP" altLang="en-US" sz="1800">
                <a:solidFill>
                  <a:srgbClr val="C00000"/>
                </a:solidFill>
              </a:rPr>
              <a:t>の主効果が有意</a:t>
            </a:r>
            <a:endParaRPr lang="en-US" altLang="ja-JP" sz="1800" dirty="0">
              <a:solidFill>
                <a:srgbClr val="C00000"/>
              </a:solidFill>
            </a:endParaRPr>
          </a:p>
          <a:p>
            <a:pPr marL="0" indent="0">
              <a:buNone/>
            </a:pPr>
            <a:r>
              <a:rPr kumimoji="1" lang="ja-JP" altLang="en-US" sz="1800"/>
              <a:t>前ページの結果と合わせて解釈すると、</a:t>
            </a:r>
            <a:endParaRPr kumimoji="1" lang="en-US" altLang="ja-JP" sz="1800" dirty="0"/>
          </a:p>
          <a:p>
            <a:pPr marL="0" indent="0">
              <a:buNone/>
            </a:pPr>
            <a:r>
              <a:rPr lang="ja-JP" altLang="en-US" sz="1800">
                <a:solidFill>
                  <a:schemeClr val="accent1"/>
                </a:solidFill>
              </a:rPr>
              <a:t>「強い</a:t>
            </a:r>
            <a:r>
              <a:rPr lang="en-US" altLang="ja-JP" sz="1800" dirty="0">
                <a:solidFill>
                  <a:schemeClr val="accent1"/>
                </a:solidFill>
              </a:rPr>
              <a:t>TP</a:t>
            </a:r>
            <a:r>
              <a:rPr lang="ja-JP" altLang="en-US" sz="1800">
                <a:solidFill>
                  <a:schemeClr val="accent1"/>
                </a:solidFill>
              </a:rPr>
              <a:t>と不快情動は主観的メンタル</a:t>
            </a:r>
            <a:endParaRPr lang="en-US" altLang="ja-JP" sz="1800" dirty="0">
              <a:solidFill>
                <a:schemeClr val="accent1"/>
              </a:solidFill>
            </a:endParaRPr>
          </a:p>
          <a:p>
            <a:pPr marL="0" indent="0">
              <a:buNone/>
            </a:pPr>
            <a:r>
              <a:rPr lang="ja-JP" altLang="en-US" sz="1800">
                <a:solidFill>
                  <a:schemeClr val="accent1"/>
                </a:solidFill>
              </a:rPr>
              <a:t>　ワークロードを大きくする」　</a:t>
            </a:r>
            <a:endParaRPr lang="en-US" altLang="ja-JP" sz="1800" dirty="0">
              <a:solidFill>
                <a:schemeClr val="accent1"/>
              </a:solidFill>
            </a:endParaRPr>
          </a:p>
          <a:p>
            <a:pPr marL="0" indent="0">
              <a:buNone/>
            </a:pPr>
            <a:r>
              <a:rPr lang="ja-JP" altLang="en-US" sz="1800"/>
              <a:t>と考えられる。</a:t>
            </a:r>
            <a:endParaRPr lang="en-US" altLang="ja-JP" sz="1800" dirty="0"/>
          </a:p>
          <a:p>
            <a:pPr marL="0" indent="0">
              <a:buNone/>
            </a:pPr>
            <a:endParaRPr kumimoji="1" lang="en-US" altLang="ja-JP" sz="1800" dirty="0"/>
          </a:p>
          <a:p>
            <a:pPr marL="0" indent="0">
              <a:buNone/>
            </a:pPr>
            <a:endParaRPr kumimoji="1" lang="ja-JP" altLang="en-US" sz="1800"/>
          </a:p>
        </p:txBody>
      </p:sp>
      <p:pic>
        <p:nvPicPr>
          <p:cNvPr id="6" name="図 5" descr="グラフ, 折れ線グラフ&#10;&#10;自動的に生成された説明">
            <a:extLst>
              <a:ext uri="{FF2B5EF4-FFF2-40B4-BE49-F238E27FC236}">
                <a16:creationId xmlns:a16="http://schemas.microsoft.com/office/drawing/2014/main" id="{BB25738C-FBCF-A54D-B3AE-D241D244F3D5}"/>
              </a:ext>
            </a:extLst>
          </p:cNvPr>
          <p:cNvPicPr>
            <a:picLocks noChangeAspect="1"/>
          </p:cNvPicPr>
          <p:nvPr/>
        </p:nvPicPr>
        <p:blipFill>
          <a:blip r:embed="rId2"/>
          <a:stretch>
            <a:fillRect/>
          </a:stretch>
        </p:blipFill>
        <p:spPr>
          <a:xfrm>
            <a:off x="262890" y="1062991"/>
            <a:ext cx="4366260" cy="2394123"/>
          </a:xfrm>
          <a:prstGeom prst="rect">
            <a:avLst/>
          </a:prstGeom>
        </p:spPr>
      </p:pic>
    </p:spTree>
    <p:extLst>
      <p:ext uri="{BB962C8B-B14F-4D97-AF65-F5344CB8AC3E}">
        <p14:creationId xmlns:p14="http://schemas.microsoft.com/office/powerpoint/2010/main" val="1040223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B90491-0635-0D49-AA92-59F3D346E567}"/>
              </a:ext>
            </a:extLst>
          </p:cNvPr>
          <p:cNvSpPr>
            <a:spLocks noGrp="1"/>
          </p:cNvSpPr>
          <p:nvPr>
            <p:ph type="title"/>
          </p:nvPr>
        </p:nvSpPr>
        <p:spPr/>
        <p:txBody>
          <a:bodyPr/>
          <a:lstStyle/>
          <a:p>
            <a:r>
              <a:rPr kumimoji="1" lang="ja-JP" altLang="en-US" b="1"/>
              <a:t>指標ごとの解析</a:t>
            </a:r>
          </a:p>
        </p:txBody>
      </p:sp>
      <p:sp>
        <p:nvSpPr>
          <p:cNvPr id="3" name="コンテンツ プレースホルダー 2">
            <a:extLst>
              <a:ext uri="{FF2B5EF4-FFF2-40B4-BE49-F238E27FC236}">
                <a16:creationId xmlns:a16="http://schemas.microsoft.com/office/drawing/2014/main" id="{C01C3DDE-9C80-D54F-9389-2CB7E5FA92ED}"/>
              </a:ext>
            </a:extLst>
          </p:cNvPr>
          <p:cNvSpPr>
            <a:spLocks noGrp="1"/>
          </p:cNvSpPr>
          <p:nvPr>
            <p:ph idx="1"/>
          </p:nvPr>
        </p:nvSpPr>
        <p:spPr>
          <a:xfrm>
            <a:off x="262890" y="1188719"/>
            <a:ext cx="8698230" cy="5452109"/>
          </a:xfrm>
        </p:spPr>
        <p:txBody>
          <a:bodyPr>
            <a:normAutofit/>
          </a:bodyPr>
          <a:lstStyle/>
          <a:p>
            <a:pPr marL="0" indent="0">
              <a:buNone/>
            </a:pPr>
            <a:endParaRPr lang="en-US" altLang="ja-JP" sz="2000" dirty="0"/>
          </a:p>
          <a:p>
            <a:pPr marL="0" indent="0">
              <a:buNone/>
            </a:pPr>
            <a:r>
              <a:rPr kumimoji="1" lang="ja-JP" altLang="en-US" sz="2000"/>
              <a:t>○主観指標</a:t>
            </a:r>
            <a:r>
              <a:rPr kumimoji="1" lang="en-US" altLang="ja-JP" sz="2000" dirty="0"/>
              <a:t>(</a:t>
            </a:r>
            <a:r>
              <a:rPr lang="ja-JP" altLang="en-US" sz="2000"/>
              <a:t>特に関連のある指標３つ</a:t>
            </a:r>
            <a:r>
              <a:rPr kumimoji="1" lang="en-US" altLang="ja-JP" sz="2000" dirty="0"/>
              <a:t>)</a:t>
            </a:r>
          </a:p>
          <a:p>
            <a:pPr marL="0" indent="0">
              <a:buNone/>
            </a:pPr>
            <a:r>
              <a:rPr lang="ja-JP" altLang="en-US" sz="2000"/>
              <a:t>　・</a:t>
            </a:r>
            <a:r>
              <a:rPr lang="en-US" altLang="ja-JP" sz="2000" dirty="0"/>
              <a:t>TP</a:t>
            </a:r>
            <a:r>
              <a:rPr lang="ja-JP" altLang="en-US" sz="2000"/>
              <a:t>　　・</a:t>
            </a:r>
            <a:r>
              <a:rPr lang="en-US" altLang="ja-JP" sz="2000" dirty="0"/>
              <a:t>WWL</a:t>
            </a:r>
            <a:r>
              <a:rPr lang="ja-JP" altLang="en-US" sz="2000"/>
              <a:t>　　・</a:t>
            </a:r>
            <a:r>
              <a:rPr lang="en-US" altLang="ja-JP" sz="2000" dirty="0"/>
              <a:t>VAS</a:t>
            </a:r>
          </a:p>
          <a:p>
            <a:pPr marL="0" indent="0">
              <a:buNone/>
            </a:pPr>
            <a:endParaRPr lang="en-US" altLang="ja-JP" sz="2000" dirty="0"/>
          </a:p>
          <a:p>
            <a:pPr marL="0" indent="0">
              <a:buNone/>
            </a:pPr>
            <a:r>
              <a:rPr lang="ja-JP" altLang="en-US" sz="2000" b="1">
                <a:solidFill>
                  <a:srgbClr val="00B050"/>
                </a:solidFill>
              </a:rPr>
              <a:t>○行動指標</a:t>
            </a:r>
            <a:endParaRPr lang="en-US" altLang="ja-JP" sz="2000" b="1" dirty="0">
              <a:solidFill>
                <a:srgbClr val="00B050"/>
              </a:solidFill>
            </a:endParaRPr>
          </a:p>
          <a:p>
            <a:pPr marL="0" indent="0">
              <a:buNone/>
            </a:pPr>
            <a:r>
              <a:rPr lang="ja-JP" altLang="en-US" sz="2000" b="1">
                <a:solidFill>
                  <a:srgbClr val="00B050"/>
                </a:solidFill>
              </a:rPr>
              <a:t>　・</a:t>
            </a:r>
            <a:r>
              <a:rPr lang="en-US" altLang="ja-JP" sz="2000" b="1" dirty="0">
                <a:solidFill>
                  <a:srgbClr val="00B050"/>
                </a:solidFill>
              </a:rPr>
              <a:t>CA</a:t>
            </a:r>
            <a:r>
              <a:rPr lang="ja-JP" altLang="en-US" sz="2000" b="1">
                <a:solidFill>
                  <a:srgbClr val="00B050"/>
                </a:solidFill>
              </a:rPr>
              <a:t>：</a:t>
            </a:r>
            <a:r>
              <a:rPr lang="en-US" altLang="ja-JP" sz="2000" b="1" dirty="0">
                <a:solidFill>
                  <a:srgbClr val="00B050"/>
                </a:solidFill>
              </a:rPr>
              <a:t>WCST</a:t>
            </a:r>
            <a:r>
              <a:rPr lang="ja-JP" altLang="en-US" sz="2000" b="1">
                <a:solidFill>
                  <a:srgbClr val="00B050"/>
                </a:solidFill>
              </a:rPr>
              <a:t>のカテゴリー達成数</a:t>
            </a:r>
            <a:r>
              <a:rPr lang="en-US" altLang="ja-JP" sz="2000" b="1" dirty="0">
                <a:solidFill>
                  <a:srgbClr val="00B050"/>
                </a:solidFill>
              </a:rPr>
              <a:t>(</a:t>
            </a:r>
            <a:r>
              <a:rPr lang="ja-JP" altLang="en-US" sz="2000" b="1">
                <a:solidFill>
                  <a:srgbClr val="00B050"/>
                </a:solidFill>
              </a:rPr>
              <a:t>各分類ルールの</a:t>
            </a:r>
            <a:r>
              <a:rPr lang="en-US" altLang="ja-JP" sz="2000" b="1" dirty="0">
                <a:solidFill>
                  <a:srgbClr val="00B050"/>
                </a:solidFill>
              </a:rPr>
              <a:t>6</a:t>
            </a:r>
            <a:r>
              <a:rPr lang="ja-JP" altLang="en-US" sz="2000" b="1">
                <a:solidFill>
                  <a:srgbClr val="00B050"/>
                </a:solidFill>
              </a:rPr>
              <a:t>回連続成功回数</a:t>
            </a:r>
            <a:r>
              <a:rPr lang="en-US" altLang="ja-JP" sz="2000" b="1" dirty="0">
                <a:solidFill>
                  <a:srgbClr val="00B050"/>
                </a:solidFill>
              </a:rPr>
              <a:t>)</a:t>
            </a:r>
          </a:p>
          <a:p>
            <a:pPr marL="0" indent="0">
              <a:buNone/>
            </a:pPr>
            <a:r>
              <a:rPr lang="ja-JP" altLang="en-US" sz="2000" b="1">
                <a:solidFill>
                  <a:srgbClr val="00B050"/>
                </a:solidFill>
              </a:rPr>
              <a:t>　・正答率：タイムオーバー以外の試行の正答率</a:t>
            </a:r>
            <a:endParaRPr lang="en-US" altLang="ja-JP" sz="2000" b="1" dirty="0">
              <a:solidFill>
                <a:srgbClr val="00B050"/>
              </a:solidFill>
            </a:endParaRPr>
          </a:p>
          <a:p>
            <a:pPr marL="0" indent="0">
              <a:buNone/>
            </a:pPr>
            <a:endParaRPr lang="en-US" altLang="ja-JP" sz="2000" dirty="0"/>
          </a:p>
          <a:p>
            <a:pPr marL="0" indent="0">
              <a:buNone/>
            </a:pPr>
            <a:r>
              <a:rPr lang="ja-JP" altLang="en-US" sz="2000"/>
              <a:t>○生理指標</a:t>
            </a:r>
            <a:r>
              <a:rPr lang="en-US" altLang="ja-JP" sz="2000" dirty="0"/>
              <a:t>(LF</a:t>
            </a:r>
            <a:r>
              <a:rPr lang="ja-JP" altLang="en-US" sz="2000"/>
              <a:t>，</a:t>
            </a:r>
            <a:r>
              <a:rPr lang="en-US" altLang="ja-JP" sz="2000" dirty="0"/>
              <a:t>HF</a:t>
            </a:r>
            <a:r>
              <a:rPr lang="ja-JP" altLang="en-US" sz="2000"/>
              <a:t>は数値のみによる結果の解釈が難しかったため除外</a:t>
            </a:r>
            <a:r>
              <a:rPr lang="en-US" altLang="ja-JP" sz="2000" dirty="0"/>
              <a:t>)</a:t>
            </a:r>
          </a:p>
          <a:p>
            <a:pPr marL="0" indent="0">
              <a:buNone/>
            </a:pPr>
            <a:r>
              <a:rPr lang="ja-JP" altLang="en-US" sz="2000"/>
              <a:t>　・</a:t>
            </a:r>
            <a:r>
              <a:rPr lang="en-US" altLang="ja-JP" sz="2000" dirty="0"/>
              <a:t>HR</a:t>
            </a:r>
            <a:r>
              <a:rPr lang="ja-JP" altLang="en-US" sz="2000"/>
              <a:t>：心拍数</a:t>
            </a:r>
            <a:r>
              <a:rPr lang="en-US" altLang="ja-JP" sz="2000" dirty="0"/>
              <a:t>(</a:t>
            </a:r>
            <a:r>
              <a:rPr lang="ja-JP" altLang="en-US" sz="2000">
                <a:solidFill>
                  <a:srgbClr val="FF0000"/>
                </a:solidFill>
              </a:rPr>
              <a:t>交換</a:t>
            </a:r>
            <a:r>
              <a:rPr lang="en-US" altLang="ja-JP" sz="2000" dirty="0"/>
              <a:t>)</a:t>
            </a:r>
            <a:r>
              <a:rPr lang="ja-JP" altLang="en-US" sz="2000"/>
              <a:t>　　　・</a:t>
            </a:r>
            <a:r>
              <a:rPr lang="en-US" altLang="ja-JP" sz="2000" dirty="0"/>
              <a:t>SDNN</a:t>
            </a:r>
            <a:r>
              <a:rPr lang="ja-JP" altLang="en-US" sz="2000"/>
              <a:t>：標準偏差（</a:t>
            </a:r>
            <a:r>
              <a:rPr lang="ja-JP" altLang="en-US" sz="2000">
                <a:solidFill>
                  <a:schemeClr val="accent1"/>
                </a:solidFill>
              </a:rPr>
              <a:t>副交感</a:t>
            </a:r>
            <a:r>
              <a:rPr lang="ja-JP" altLang="en-US" sz="2000"/>
              <a:t>）</a:t>
            </a:r>
            <a:endParaRPr lang="en-US" altLang="ja-JP" sz="2000" dirty="0"/>
          </a:p>
          <a:p>
            <a:pPr marL="0" indent="0">
              <a:buNone/>
            </a:pPr>
            <a:r>
              <a:rPr lang="ja-JP" altLang="en-US" sz="2000"/>
              <a:t>　・</a:t>
            </a:r>
            <a:r>
              <a:rPr lang="en-US" altLang="ja-JP" sz="2000" dirty="0"/>
              <a:t>RMSSD</a:t>
            </a:r>
            <a:r>
              <a:rPr lang="ja-JP" altLang="en-US" sz="2000"/>
              <a:t>：隣り合う</a:t>
            </a:r>
            <a:r>
              <a:rPr lang="en-US" altLang="ja-JP" sz="2000" dirty="0"/>
              <a:t>RRI</a:t>
            </a:r>
            <a:r>
              <a:rPr lang="ja-JP" altLang="en-US" sz="2000"/>
              <a:t>の差の二乗平均</a:t>
            </a:r>
            <a:r>
              <a:rPr lang="en-US" altLang="ja-JP" sz="2000" dirty="0"/>
              <a:t>(</a:t>
            </a:r>
            <a:r>
              <a:rPr lang="ja-JP" altLang="en-US" sz="2000">
                <a:solidFill>
                  <a:schemeClr val="accent1"/>
                </a:solidFill>
              </a:rPr>
              <a:t>副交感</a:t>
            </a:r>
            <a:r>
              <a:rPr lang="en-US" altLang="ja-JP" sz="2000" dirty="0"/>
              <a:t>)</a:t>
            </a:r>
          </a:p>
          <a:p>
            <a:pPr marL="0" indent="0">
              <a:buNone/>
            </a:pPr>
            <a:r>
              <a:rPr lang="ja-JP" altLang="en-US" sz="2000"/>
              <a:t>　・</a:t>
            </a:r>
            <a:r>
              <a:rPr lang="en-US" altLang="ja-JP" sz="2000" dirty="0"/>
              <a:t>pNN50</a:t>
            </a:r>
            <a:r>
              <a:rPr lang="ja-JP" altLang="en-US" sz="2000"/>
              <a:t>：</a:t>
            </a:r>
            <a:r>
              <a:rPr lang="en-US" altLang="ja-JP" sz="2000" dirty="0"/>
              <a:t>RRI</a:t>
            </a:r>
            <a:r>
              <a:rPr lang="ja-JP" altLang="en-US" sz="2000"/>
              <a:t>の変動が</a:t>
            </a:r>
            <a:r>
              <a:rPr lang="en-US" altLang="ja-JP" sz="2000" dirty="0"/>
              <a:t>50msec</a:t>
            </a:r>
            <a:r>
              <a:rPr lang="ja-JP" altLang="en-US" sz="2000"/>
              <a:t>を超えたものの比率</a:t>
            </a:r>
            <a:r>
              <a:rPr lang="en-US" altLang="ja-JP" sz="2000" dirty="0"/>
              <a:t>(</a:t>
            </a:r>
            <a:r>
              <a:rPr lang="ja-JP" altLang="en-US" sz="2000">
                <a:solidFill>
                  <a:schemeClr val="accent1"/>
                </a:solidFill>
              </a:rPr>
              <a:t>副交感</a:t>
            </a:r>
            <a:r>
              <a:rPr lang="en-US" altLang="ja-JP" sz="2000" dirty="0"/>
              <a:t>)</a:t>
            </a:r>
          </a:p>
          <a:p>
            <a:pPr marL="0" indent="0">
              <a:buNone/>
            </a:pPr>
            <a:r>
              <a:rPr lang="ja-JP" altLang="en-US" sz="2000"/>
              <a:t>　・</a:t>
            </a:r>
            <a:r>
              <a:rPr lang="en-US" altLang="ja-JP" sz="2000" dirty="0"/>
              <a:t>LPS</a:t>
            </a:r>
            <a:r>
              <a:rPr lang="ja-JP" altLang="en-US" sz="2000"/>
              <a:t>：</a:t>
            </a:r>
            <a:r>
              <a:rPr lang="en-US" altLang="ja-JP" sz="2000" dirty="0"/>
              <a:t>LP</a:t>
            </a:r>
            <a:r>
              <a:rPr lang="ja-JP" altLang="en-US" sz="2000"/>
              <a:t>面積</a:t>
            </a:r>
            <a:r>
              <a:rPr lang="en-US" altLang="ja-JP" sz="2000" dirty="0"/>
              <a:t>(</a:t>
            </a:r>
            <a:r>
              <a:rPr lang="ja-JP" altLang="en-US" sz="2000">
                <a:solidFill>
                  <a:schemeClr val="accent1"/>
                </a:solidFill>
              </a:rPr>
              <a:t>副交感</a:t>
            </a:r>
            <a:r>
              <a:rPr lang="en-US" altLang="ja-JP" sz="2000" dirty="0"/>
              <a:t>)</a:t>
            </a:r>
          </a:p>
        </p:txBody>
      </p:sp>
    </p:spTree>
    <p:extLst>
      <p:ext uri="{BB962C8B-B14F-4D97-AF65-F5344CB8AC3E}">
        <p14:creationId xmlns:p14="http://schemas.microsoft.com/office/powerpoint/2010/main" val="2229178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339633-640B-C94F-ACAD-1D5FD179464F}"/>
              </a:ext>
            </a:extLst>
          </p:cNvPr>
          <p:cNvSpPr>
            <a:spLocks noGrp="1"/>
          </p:cNvSpPr>
          <p:nvPr>
            <p:ph type="title"/>
          </p:nvPr>
        </p:nvSpPr>
        <p:spPr/>
        <p:txBody>
          <a:bodyPr/>
          <a:lstStyle/>
          <a:p>
            <a:r>
              <a:rPr kumimoji="1" lang="ja-JP" altLang="en-US" b="1"/>
              <a:t>行動指標：</a:t>
            </a:r>
            <a:r>
              <a:rPr lang="en-US" altLang="ja-JP" b="1" dirty="0"/>
              <a:t>CA, </a:t>
            </a:r>
            <a:r>
              <a:rPr lang="ja-JP" altLang="en-US" b="1"/>
              <a:t>正答率</a:t>
            </a:r>
            <a:endParaRPr kumimoji="1" lang="ja-JP" altLang="en-US" b="1"/>
          </a:p>
        </p:txBody>
      </p:sp>
      <p:sp>
        <p:nvSpPr>
          <p:cNvPr id="3" name="コンテンツ プレースホルダー 2">
            <a:extLst>
              <a:ext uri="{FF2B5EF4-FFF2-40B4-BE49-F238E27FC236}">
                <a16:creationId xmlns:a16="http://schemas.microsoft.com/office/drawing/2014/main" id="{9D48AE1D-B6A6-9244-90A7-95EED693DB80}"/>
              </a:ext>
            </a:extLst>
          </p:cNvPr>
          <p:cNvSpPr>
            <a:spLocks noGrp="1"/>
          </p:cNvSpPr>
          <p:nvPr>
            <p:ph sz="half" idx="1"/>
          </p:nvPr>
        </p:nvSpPr>
        <p:spPr>
          <a:xfrm>
            <a:off x="262890" y="1242379"/>
            <a:ext cx="4251960" cy="4663746"/>
          </a:xfrm>
        </p:spPr>
        <p:txBody>
          <a:bodyPr>
            <a:normAutofit fontScale="92500" lnSpcReduction="20000"/>
          </a:bodyPr>
          <a:lstStyle/>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r>
              <a:rPr lang="en-US" altLang="ja-JP" sz="2000" dirty="0">
                <a:solidFill>
                  <a:schemeClr val="accent1"/>
                </a:solidFill>
              </a:rPr>
              <a:t>    </a:t>
            </a:r>
          </a:p>
          <a:p>
            <a:pPr marL="0" indent="0">
              <a:buNone/>
            </a:pPr>
            <a:r>
              <a:rPr lang="ja-JP" altLang="en-US" sz="2000">
                <a:solidFill>
                  <a:schemeClr val="accent1"/>
                </a:solidFill>
              </a:rPr>
              <a:t>　青：情動なし　</a:t>
            </a:r>
            <a:r>
              <a:rPr lang="ja-JP" altLang="en-US" sz="2000" b="1">
                <a:solidFill>
                  <a:srgbClr val="FFC000"/>
                </a:solidFill>
              </a:rPr>
              <a:t>黄色：情動あり</a:t>
            </a:r>
            <a:endParaRPr lang="en-US" altLang="ja-JP" sz="2000" dirty="0"/>
          </a:p>
          <a:p>
            <a:pPr marL="0" indent="0">
              <a:buNone/>
            </a:pPr>
            <a:r>
              <a:rPr lang="ja-JP" altLang="en-US" sz="2000"/>
              <a:t>○情動喚起の主効果</a:t>
            </a:r>
            <a:endParaRPr lang="en-US" altLang="ja-JP" sz="2000" dirty="0"/>
          </a:p>
          <a:p>
            <a:pPr marL="0" indent="0">
              <a:buNone/>
            </a:pPr>
            <a:r>
              <a:rPr lang="ja-JP" altLang="en-US" sz="2000"/>
              <a:t>　</a:t>
            </a:r>
            <a:r>
              <a:rPr lang="en-US" altLang="ja-JP" sz="2000" dirty="0"/>
              <a:t>F(1,6)=23.04   p=0.0030 (&lt;.01)</a:t>
            </a:r>
          </a:p>
          <a:p>
            <a:pPr marL="0" indent="0">
              <a:buNone/>
            </a:pPr>
            <a:r>
              <a:rPr lang="ja-JP" altLang="en-US" sz="2000"/>
              <a:t>○</a:t>
            </a:r>
            <a:r>
              <a:rPr lang="en-US" altLang="ja-JP" sz="2000" dirty="0"/>
              <a:t>TP</a:t>
            </a:r>
            <a:r>
              <a:rPr lang="ja-JP" altLang="en-US" sz="2000"/>
              <a:t>の主効果</a:t>
            </a:r>
            <a:endParaRPr lang="en-US" altLang="ja-JP" sz="2000" dirty="0"/>
          </a:p>
          <a:p>
            <a:pPr marL="0" indent="0">
              <a:buNone/>
            </a:pPr>
            <a:r>
              <a:rPr lang="en-US" altLang="ja-JP" sz="2000" dirty="0"/>
              <a:t>    F(1,6)=52.69   p=0.0003(&lt;.05)</a:t>
            </a:r>
          </a:p>
          <a:p>
            <a:pPr marL="0" indent="0">
              <a:buNone/>
            </a:pPr>
            <a:r>
              <a:rPr lang="ja-JP" altLang="en-US" sz="2000"/>
              <a:t>○交互作用</a:t>
            </a:r>
            <a:endParaRPr lang="en-US" altLang="ja-JP" sz="2000" dirty="0"/>
          </a:p>
          <a:p>
            <a:pPr marL="0" indent="0">
              <a:buNone/>
            </a:pPr>
            <a:r>
              <a:rPr lang="en-US" altLang="ja-JP" sz="2000" dirty="0"/>
              <a:t>   F(1,6)=0.29  p=0.6085 ns</a:t>
            </a:r>
          </a:p>
          <a:p>
            <a:pPr marL="0" indent="0">
              <a:buNone/>
            </a:pPr>
            <a:endParaRPr kumimoji="1" lang="ja-JP" altLang="en-US" sz="2000"/>
          </a:p>
        </p:txBody>
      </p:sp>
      <p:sp>
        <p:nvSpPr>
          <p:cNvPr id="4" name="コンテンツ プレースホルダー 3">
            <a:extLst>
              <a:ext uri="{FF2B5EF4-FFF2-40B4-BE49-F238E27FC236}">
                <a16:creationId xmlns:a16="http://schemas.microsoft.com/office/drawing/2014/main" id="{36EC6DB6-F58E-B64E-A72D-C7D34D1C431D}"/>
              </a:ext>
            </a:extLst>
          </p:cNvPr>
          <p:cNvSpPr>
            <a:spLocks noGrp="1"/>
          </p:cNvSpPr>
          <p:nvPr>
            <p:ph sz="half" idx="2"/>
          </p:nvPr>
        </p:nvSpPr>
        <p:spPr>
          <a:xfrm>
            <a:off x="4629150" y="1242379"/>
            <a:ext cx="4331970" cy="4663746"/>
          </a:xfrm>
        </p:spPr>
        <p:txBody>
          <a:bodyPr>
            <a:normAutofit fontScale="92500" lnSpcReduction="20000"/>
          </a:bodyPr>
          <a:lstStyle/>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r>
              <a:rPr lang="en-US" altLang="ja-JP" sz="2000" dirty="0">
                <a:solidFill>
                  <a:schemeClr val="accent1"/>
                </a:solidFill>
              </a:rPr>
              <a:t>    </a:t>
            </a:r>
          </a:p>
          <a:p>
            <a:pPr marL="0" indent="0">
              <a:buNone/>
            </a:pPr>
            <a:r>
              <a:rPr lang="ja-JP" altLang="en-US" sz="2000">
                <a:solidFill>
                  <a:schemeClr val="accent1"/>
                </a:solidFill>
              </a:rPr>
              <a:t>　青：情動なし　</a:t>
            </a:r>
            <a:r>
              <a:rPr lang="ja-JP" altLang="en-US" sz="2000" b="1">
                <a:solidFill>
                  <a:srgbClr val="FFC000"/>
                </a:solidFill>
              </a:rPr>
              <a:t>黄色：情動あり</a:t>
            </a:r>
            <a:endParaRPr lang="en-US" altLang="ja-JP" sz="2000" dirty="0"/>
          </a:p>
          <a:p>
            <a:pPr marL="0" indent="0">
              <a:buNone/>
            </a:pPr>
            <a:r>
              <a:rPr lang="ja-JP" altLang="en-US" sz="2000"/>
              <a:t>○情動喚起の主効果</a:t>
            </a:r>
            <a:endParaRPr lang="en-US" altLang="ja-JP" sz="2000" dirty="0"/>
          </a:p>
          <a:p>
            <a:pPr marL="0" indent="0">
              <a:buNone/>
            </a:pPr>
            <a:r>
              <a:rPr lang="ja-JP" altLang="en-US" sz="2000"/>
              <a:t>　</a:t>
            </a:r>
            <a:r>
              <a:rPr lang="en-US" altLang="ja-JP" sz="2000" dirty="0"/>
              <a:t>F(1,6)=7.39   p=0.0348 (&lt;.01)</a:t>
            </a:r>
          </a:p>
          <a:p>
            <a:pPr marL="0" indent="0">
              <a:buNone/>
            </a:pPr>
            <a:r>
              <a:rPr lang="ja-JP" altLang="en-US" sz="2000"/>
              <a:t>○</a:t>
            </a:r>
            <a:r>
              <a:rPr lang="en-US" altLang="ja-JP" sz="2000" dirty="0"/>
              <a:t>TP</a:t>
            </a:r>
            <a:r>
              <a:rPr lang="ja-JP" altLang="en-US" sz="2000"/>
              <a:t>の主効果</a:t>
            </a:r>
            <a:endParaRPr lang="en-US" altLang="ja-JP" sz="2000" dirty="0"/>
          </a:p>
          <a:p>
            <a:pPr marL="0" indent="0">
              <a:buNone/>
            </a:pPr>
            <a:r>
              <a:rPr lang="en-US" altLang="ja-JP" sz="2000" dirty="0"/>
              <a:t>    F(1,6)=2.51  p=0.1640(&lt;.05)</a:t>
            </a:r>
          </a:p>
          <a:p>
            <a:pPr marL="0" indent="0">
              <a:buNone/>
            </a:pPr>
            <a:r>
              <a:rPr lang="ja-JP" altLang="en-US" sz="2000"/>
              <a:t>○交互作用</a:t>
            </a:r>
            <a:endParaRPr lang="en-US" altLang="ja-JP" sz="2000" dirty="0"/>
          </a:p>
          <a:p>
            <a:pPr marL="0" indent="0">
              <a:buNone/>
            </a:pPr>
            <a:r>
              <a:rPr lang="en-US" altLang="ja-JP" sz="2000" dirty="0"/>
              <a:t>   F(1,6)=0.01  p=0.9158 ns</a:t>
            </a:r>
          </a:p>
          <a:p>
            <a:pPr marL="0" indent="0">
              <a:buNone/>
            </a:pPr>
            <a:endParaRPr kumimoji="1" lang="ja-JP" altLang="en-US" sz="2000"/>
          </a:p>
        </p:txBody>
      </p:sp>
      <p:pic>
        <p:nvPicPr>
          <p:cNvPr id="6" name="図 5" descr="グラフ, 折れ線グラフ&#10;&#10;自動的に生成された説明">
            <a:extLst>
              <a:ext uri="{FF2B5EF4-FFF2-40B4-BE49-F238E27FC236}">
                <a16:creationId xmlns:a16="http://schemas.microsoft.com/office/drawing/2014/main" id="{43EFE63D-8495-8946-AB70-7BD022730B05}"/>
              </a:ext>
            </a:extLst>
          </p:cNvPr>
          <p:cNvPicPr>
            <a:picLocks noChangeAspect="1"/>
          </p:cNvPicPr>
          <p:nvPr/>
        </p:nvPicPr>
        <p:blipFill>
          <a:blip r:embed="rId2"/>
          <a:stretch>
            <a:fillRect/>
          </a:stretch>
        </p:blipFill>
        <p:spPr>
          <a:xfrm>
            <a:off x="518287" y="1062991"/>
            <a:ext cx="3741166" cy="2092644"/>
          </a:xfrm>
          <a:prstGeom prst="rect">
            <a:avLst/>
          </a:prstGeom>
        </p:spPr>
      </p:pic>
      <p:pic>
        <p:nvPicPr>
          <p:cNvPr id="8" name="図 7" descr="グラフ, 折れ線グラフ&#10;&#10;自動的に生成された説明">
            <a:extLst>
              <a:ext uri="{FF2B5EF4-FFF2-40B4-BE49-F238E27FC236}">
                <a16:creationId xmlns:a16="http://schemas.microsoft.com/office/drawing/2014/main" id="{453344F0-93EC-6F4A-A13C-84AAD67E93AA}"/>
              </a:ext>
            </a:extLst>
          </p:cNvPr>
          <p:cNvPicPr>
            <a:picLocks noChangeAspect="1"/>
          </p:cNvPicPr>
          <p:nvPr/>
        </p:nvPicPr>
        <p:blipFill>
          <a:blip r:embed="rId3"/>
          <a:stretch>
            <a:fillRect/>
          </a:stretch>
        </p:blipFill>
        <p:spPr>
          <a:xfrm>
            <a:off x="4612005" y="1062991"/>
            <a:ext cx="4110863" cy="2254083"/>
          </a:xfrm>
          <a:prstGeom prst="rect">
            <a:avLst/>
          </a:prstGeom>
        </p:spPr>
      </p:pic>
      <p:graphicFrame>
        <p:nvGraphicFramePr>
          <p:cNvPr id="9" name="表 9">
            <a:extLst>
              <a:ext uri="{FF2B5EF4-FFF2-40B4-BE49-F238E27FC236}">
                <a16:creationId xmlns:a16="http://schemas.microsoft.com/office/drawing/2014/main" id="{376089BE-8FA6-5C4D-A0D2-953F3FDAD8EF}"/>
              </a:ext>
            </a:extLst>
          </p:cNvPr>
          <p:cNvGraphicFramePr>
            <a:graphicFrameLocks noGrp="1"/>
          </p:cNvGraphicFramePr>
          <p:nvPr>
            <p:extLst>
              <p:ext uri="{D42A27DB-BD31-4B8C-83A1-F6EECF244321}">
                <p14:modId xmlns:p14="http://schemas.microsoft.com/office/powerpoint/2010/main" val="1495816230"/>
              </p:ext>
            </p:extLst>
          </p:nvPr>
        </p:nvGraphicFramePr>
        <p:xfrm>
          <a:off x="737329" y="6000749"/>
          <a:ext cx="7555042" cy="640080"/>
        </p:xfrm>
        <a:graphic>
          <a:graphicData uri="http://schemas.openxmlformats.org/drawingml/2006/table">
            <a:tbl>
              <a:tblPr firstRow="1" bandRow="1">
                <a:tableStyleId>{5C22544A-7EE6-4342-B048-85BDC9FD1C3A}</a:tableStyleId>
              </a:tblPr>
              <a:tblGrid>
                <a:gridCol w="7555042">
                  <a:extLst>
                    <a:ext uri="{9D8B030D-6E8A-4147-A177-3AD203B41FA5}">
                      <a16:colId xmlns:a16="http://schemas.microsoft.com/office/drawing/2014/main" val="1262442447"/>
                    </a:ext>
                  </a:extLst>
                </a:gridCol>
              </a:tblGrid>
              <a:tr h="370840">
                <a:tc>
                  <a:txBody>
                    <a:bodyPr/>
                    <a:lstStyle/>
                    <a:p>
                      <a:r>
                        <a:rPr kumimoji="1" lang="ja-JP" altLang="en-US">
                          <a:solidFill>
                            <a:srgbClr val="C00000"/>
                          </a:solidFill>
                        </a:rPr>
                        <a:t>不快情動の生起、脅威情報への注意によってタスクのパフォーマンスの低下したと考えられる</a:t>
                      </a:r>
                    </a:p>
                  </a:txBody>
                  <a:tcPr>
                    <a:noFill/>
                  </a:tcPr>
                </a:tc>
                <a:extLst>
                  <a:ext uri="{0D108BD9-81ED-4DB2-BD59-A6C34878D82A}">
                    <a16:rowId xmlns:a16="http://schemas.microsoft.com/office/drawing/2014/main" val="1528022120"/>
                  </a:ext>
                </a:extLst>
              </a:tr>
            </a:tbl>
          </a:graphicData>
        </a:graphic>
      </p:graphicFrame>
    </p:spTree>
    <p:extLst>
      <p:ext uri="{BB962C8B-B14F-4D97-AF65-F5344CB8AC3E}">
        <p14:creationId xmlns:p14="http://schemas.microsoft.com/office/powerpoint/2010/main" val="1143015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B90491-0635-0D49-AA92-59F3D346E567}"/>
              </a:ext>
            </a:extLst>
          </p:cNvPr>
          <p:cNvSpPr>
            <a:spLocks noGrp="1"/>
          </p:cNvSpPr>
          <p:nvPr>
            <p:ph type="title"/>
          </p:nvPr>
        </p:nvSpPr>
        <p:spPr/>
        <p:txBody>
          <a:bodyPr/>
          <a:lstStyle/>
          <a:p>
            <a:r>
              <a:rPr kumimoji="1" lang="ja-JP" altLang="en-US" b="1"/>
              <a:t>指標ごとの解析</a:t>
            </a:r>
          </a:p>
        </p:txBody>
      </p:sp>
      <p:sp>
        <p:nvSpPr>
          <p:cNvPr id="3" name="コンテンツ プレースホルダー 2">
            <a:extLst>
              <a:ext uri="{FF2B5EF4-FFF2-40B4-BE49-F238E27FC236}">
                <a16:creationId xmlns:a16="http://schemas.microsoft.com/office/drawing/2014/main" id="{C01C3DDE-9C80-D54F-9389-2CB7E5FA92ED}"/>
              </a:ext>
            </a:extLst>
          </p:cNvPr>
          <p:cNvSpPr>
            <a:spLocks noGrp="1"/>
          </p:cNvSpPr>
          <p:nvPr>
            <p:ph idx="1"/>
          </p:nvPr>
        </p:nvSpPr>
        <p:spPr>
          <a:xfrm>
            <a:off x="262890" y="1188719"/>
            <a:ext cx="8698230" cy="5452109"/>
          </a:xfrm>
        </p:spPr>
        <p:txBody>
          <a:bodyPr>
            <a:normAutofit lnSpcReduction="10000"/>
          </a:bodyPr>
          <a:lstStyle/>
          <a:p>
            <a:pPr marL="0" indent="0">
              <a:buNone/>
            </a:pPr>
            <a:endParaRPr lang="en-US" altLang="ja-JP" sz="2000" dirty="0"/>
          </a:p>
          <a:p>
            <a:pPr marL="0" indent="0">
              <a:buNone/>
            </a:pPr>
            <a:r>
              <a:rPr kumimoji="1" lang="ja-JP" altLang="en-US" sz="2000"/>
              <a:t>○主観指標</a:t>
            </a:r>
            <a:r>
              <a:rPr kumimoji="1" lang="en-US" altLang="ja-JP" sz="2000" dirty="0"/>
              <a:t>(</a:t>
            </a:r>
            <a:r>
              <a:rPr lang="ja-JP" altLang="en-US" sz="2000"/>
              <a:t>特に関連のある指標３つ</a:t>
            </a:r>
            <a:r>
              <a:rPr kumimoji="1" lang="en-US" altLang="ja-JP" sz="2000" dirty="0"/>
              <a:t>)</a:t>
            </a:r>
          </a:p>
          <a:p>
            <a:pPr marL="0" indent="0">
              <a:buNone/>
            </a:pPr>
            <a:r>
              <a:rPr lang="ja-JP" altLang="en-US" sz="2000"/>
              <a:t>　・</a:t>
            </a:r>
            <a:r>
              <a:rPr lang="en-US" altLang="ja-JP" sz="2000" dirty="0"/>
              <a:t>TP</a:t>
            </a:r>
            <a:r>
              <a:rPr lang="ja-JP" altLang="en-US" sz="2000"/>
              <a:t>　　・</a:t>
            </a:r>
            <a:r>
              <a:rPr lang="en-US" altLang="ja-JP" sz="2000" dirty="0"/>
              <a:t>WWL</a:t>
            </a:r>
            <a:r>
              <a:rPr lang="ja-JP" altLang="en-US" sz="2000"/>
              <a:t>　　・</a:t>
            </a:r>
            <a:r>
              <a:rPr lang="en-US" altLang="ja-JP" sz="2000" dirty="0"/>
              <a:t>VAS</a:t>
            </a:r>
          </a:p>
          <a:p>
            <a:pPr marL="0" indent="0">
              <a:buNone/>
            </a:pPr>
            <a:endParaRPr lang="en-US" altLang="ja-JP" sz="2000" dirty="0"/>
          </a:p>
          <a:p>
            <a:pPr marL="0" indent="0">
              <a:buNone/>
            </a:pPr>
            <a:r>
              <a:rPr lang="ja-JP" altLang="en-US" sz="2000"/>
              <a:t>○行動指標</a:t>
            </a:r>
            <a:endParaRPr lang="en-US" altLang="ja-JP" sz="2000" dirty="0"/>
          </a:p>
          <a:p>
            <a:pPr marL="0" indent="0">
              <a:buNone/>
            </a:pPr>
            <a:r>
              <a:rPr lang="ja-JP" altLang="en-US" sz="2000"/>
              <a:t>　・</a:t>
            </a:r>
            <a:r>
              <a:rPr lang="en-US" altLang="ja-JP" sz="2000" dirty="0"/>
              <a:t>CA</a:t>
            </a:r>
            <a:r>
              <a:rPr lang="ja-JP" altLang="en-US" sz="2000"/>
              <a:t>：</a:t>
            </a:r>
            <a:r>
              <a:rPr lang="en-US" altLang="ja-JP" sz="2000" dirty="0"/>
              <a:t>WCST</a:t>
            </a:r>
            <a:r>
              <a:rPr lang="ja-JP" altLang="en-US" sz="2000"/>
              <a:t>のカテゴリー達成数</a:t>
            </a:r>
            <a:r>
              <a:rPr lang="en-US" altLang="ja-JP" sz="2000" dirty="0"/>
              <a:t>(</a:t>
            </a:r>
            <a:r>
              <a:rPr lang="ja-JP" altLang="en-US" sz="2000"/>
              <a:t>各分類ルールの</a:t>
            </a:r>
            <a:r>
              <a:rPr lang="en-US" altLang="ja-JP" sz="2000" dirty="0"/>
              <a:t>6</a:t>
            </a:r>
            <a:r>
              <a:rPr lang="ja-JP" altLang="en-US" sz="2000"/>
              <a:t>回連続成功回数</a:t>
            </a:r>
            <a:r>
              <a:rPr lang="en-US" altLang="ja-JP" sz="2000" dirty="0"/>
              <a:t>)</a:t>
            </a:r>
          </a:p>
          <a:p>
            <a:pPr marL="0" indent="0">
              <a:buNone/>
            </a:pPr>
            <a:r>
              <a:rPr lang="ja-JP" altLang="en-US" sz="2000"/>
              <a:t>　・正答率：タイムオーバー以外の試行の正答率</a:t>
            </a:r>
            <a:endParaRPr lang="en-US" altLang="ja-JP" sz="2000" dirty="0"/>
          </a:p>
          <a:p>
            <a:pPr marL="0" indent="0">
              <a:buNone/>
            </a:pPr>
            <a:endParaRPr lang="en-US" altLang="ja-JP" sz="2000" dirty="0"/>
          </a:p>
          <a:p>
            <a:pPr marL="0" indent="0">
              <a:buNone/>
            </a:pPr>
            <a:r>
              <a:rPr lang="ja-JP" altLang="en-US" sz="2000" b="1">
                <a:solidFill>
                  <a:srgbClr val="00B050"/>
                </a:solidFill>
              </a:rPr>
              <a:t>○生理指標</a:t>
            </a:r>
            <a:r>
              <a:rPr lang="en-US" altLang="ja-JP" sz="2000" b="1" dirty="0">
                <a:solidFill>
                  <a:srgbClr val="00B050"/>
                </a:solidFill>
              </a:rPr>
              <a:t>(LF</a:t>
            </a:r>
            <a:r>
              <a:rPr lang="ja-JP" altLang="en-US" sz="2000" b="1">
                <a:solidFill>
                  <a:srgbClr val="00B050"/>
                </a:solidFill>
              </a:rPr>
              <a:t>，</a:t>
            </a:r>
            <a:r>
              <a:rPr lang="en-US" altLang="ja-JP" sz="2000" b="1" dirty="0">
                <a:solidFill>
                  <a:srgbClr val="00B050"/>
                </a:solidFill>
              </a:rPr>
              <a:t>HF</a:t>
            </a:r>
            <a:r>
              <a:rPr lang="ja-JP" altLang="en-US" sz="2000" b="1">
                <a:solidFill>
                  <a:srgbClr val="00B050"/>
                </a:solidFill>
              </a:rPr>
              <a:t>は数値のみによる結果の解釈が難しかったため除外</a:t>
            </a:r>
            <a:r>
              <a:rPr lang="en-US" altLang="ja-JP" sz="2000" b="1" dirty="0">
                <a:solidFill>
                  <a:srgbClr val="00B050"/>
                </a:solidFill>
              </a:rPr>
              <a:t>)</a:t>
            </a:r>
          </a:p>
          <a:p>
            <a:pPr marL="0" indent="0">
              <a:buNone/>
            </a:pPr>
            <a:r>
              <a:rPr lang="ja-JP" altLang="en-US" sz="2000" b="1">
                <a:solidFill>
                  <a:srgbClr val="00B050"/>
                </a:solidFill>
              </a:rPr>
              <a:t>　・</a:t>
            </a:r>
            <a:r>
              <a:rPr lang="en-US" altLang="ja-JP" sz="2000" b="1" dirty="0">
                <a:solidFill>
                  <a:srgbClr val="00B050"/>
                </a:solidFill>
              </a:rPr>
              <a:t>HR</a:t>
            </a:r>
            <a:r>
              <a:rPr lang="ja-JP" altLang="en-US" sz="2000" b="1">
                <a:solidFill>
                  <a:srgbClr val="00B050"/>
                </a:solidFill>
              </a:rPr>
              <a:t>：心拍数</a:t>
            </a:r>
            <a:r>
              <a:rPr lang="en-US" altLang="ja-JP" sz="2000" b="1" dirty="0">
                <a:solidFill>
                  <a:srgbClr val="00B050"/>
                </a:solidFill>
              </a:rPr>
              <a:t>(</a:t>
            </a:r>
            <a:r>
              <a:rPr lang="ja-JP" altLang="en-US" sz="2000" b="1">
                <a:solidFill>
                  <a:srgbClr val="00B050"/>
                </a:solidFill>
              </a:rPr>
              <a:t>交換</a:t>
            </a:r>
            <a:r>
              <a:rPr lang="en-US" altLang="ja-JP" sz="2000" b="1" dirty="0">
                <a:solidFill>
                  <a:srgbClr val="00B050"/>
                </a:solidFill>
              </a:rPr>
              <a:t>)</a:t>
            </a:r>
            <a:r>
              <a:rPr lang="ja-JP" altLang="en-US" sz="2000" b="1">
                <a:solidFill>
                  <a:srgbClr val="00B050"/>
                </a:solidFill>
              </a:rPr>
              <a:t>　　　・</a:t>
            </a:r>
            <a:r>
              <a:rPr lang="en-US" altLang="ja-JP" sz="2000" b="1" dirty="0">
                <a:solidFill>
                  <a:srgbClr val="00B050"/>
                </a:solidFill>
              </a:rPr>
              <a:t>SDNN</a:t>
            </a:r>
            <a:r>
              <a:rPr lang="ja-JP" altLang="en-US" sz="2000" b="1">
                <a:solidFill>
                  <a:srgbClr val="00B050"/>
                </a:solidFill>
              </a:rPr>
              <a:t>：標準偏差（副交感）</a:t>
            </a:r>
            <a:endParaRPr lang="en-US" altLang="ja-JP" sz="2000" b="1" dirty="0">
              <a:solidFill>
                <a:srgbClr val="00B050"/>
              </a:solidFill>
            </a:endParaRPr>
          </a:p>
          <a:p>
            <a:pPr marL="0" indent="0">
              <a:buNone/>
            </a:pPr>
            <a:r>
              <a:rPr lang="ja-JP" altLang="en-US" sz="2000" b="1">
                <a:solidFill>
                  <a:srgbClr val="00B050"/>
                </a:solidFill>
              </a:rPr>
              <a:t>　・</a:t>
            </a:r>
            <a:r>
              <a:rPr lang="en-US" altLang="ja-JP" sz="2000" b="1" dirty="0">
                <a:solidFill>
                  <a:srgbClr val="00B050"/>
                </a:solidFill>
              </a:rPr>
              <a:t>RMSSD</a:t>
            </a:r>
            <a:r>
              <a:rPr lang="ja-JP" altLang="en-US" sz="2000" b="1">
                <a:solidFill>
                  <a:srgbClr val="00B050"/>
                </a:solidFill>
              </a:rPr>
              <a:t>：隣り合う</a:t>
            </a:r>
            <a:r>
              <a:rPr lang="en-US" altLang="ja-JP" sz="2000" b="1" dirty="0">
                <a:solidFill>
                  <a:srgbClr val="00B050"/>
                </a:solidFill>
              </a:rPr>
              <a:t>RRI</a:t>
            </a:r>
            <a:r>
              <a:rPr lang="ja-JP" altLang="en-US" sz="2000" b="1">
                <a:solidFill>
                  <a:srgbClr val="00B050"/>
                </a:solidFill>
              </a:rPr>
              <a:t>の差の二乗平均</a:t>
            </a:r>
            <a:r>
              <a:rPr lang="en-US" altLang="ja-JP" sz="2000" b="1" dirty="0">
                <a:solidFill>
                  <a:srgbClr val="00B050"/>
                </a:solidFill>
              </a:rPr>
              <a:t>(</a:t>
            </a:r>
            <a:r>
              <a:rPr lang="ja-JP" altLang="en-US" sz="2000" b="1">
                <a:solidFill>
                  <a:srgbClr val="00B050"/>
                </a:solidFill>
              </a:rPr>
              <a:t>副交感</a:t>
            </a:r>
            <a:r>
              <a:rPr lang="en-US" altLang="ja-JP" sz="2000" b="1" dirty="0">
                <a:solidFill>
                  <a:srgbClr val="00B050"/>
                </a:solidFill>
              </a:rPr>
              <a:t>)</a:t>
            </a:r>
          </a:p>
          <a:p>
            <a:pPr marL="0" indent="0">
              <a:buNone/>
            </a:pPr>
            <a:r>
              <a:rPr lang="ja-JP" altLang="en-US" sz="2000" b="1">
                <a:solidFill>
                  <a:srgbClr val="00B050"/>
                </a:solidFill>
              </a:rPr>
              <a:t>　・</a:t>
            </a:r>
            <a:r>
              <a:rPr lang="en-US" altLang="ja-JP" sz="2000" b="1" dirty="0">
                <a:solidFill>
                  <a:srgbClr val="00B050"/>
                </a:solidFill>
              </a:rPr>
              <a:t>pNN50</a:t>
            </a:r>
            <a:r>
              <a:rPr lang="ja-JP" altLang="en-US" sz="2000" b="1">
                <a:solidFill>
                  <a:srgbClr val="00B050"/>
                </a:solidFill>
              </a:rPr>
              <a:t>：</a:t>
            </a:r>
            <a:r>
              <a:rPr lang="en-US" altLang="ja-JP" sz="2000" b="1" dirty="0">
                <a:solidFill>
                  <a:srgbClr val="00B050"/>
                </a:solidFill>
              </a:rPr>
              <a:t>RRI</a:t>
            </a:r>
            <a:r>
              <a:rPr lang="ja-JP" altLang="en-US" sz="2000" b="1">
                <a:solidFill>
                  <a:srgbClr val="00B050"/>
                </a:solidFill>
              </a:rPr>
              <a:t>の変動が</a:t>
            </a:r>
            <a:r>
              <a:rPr lang="en-US" altLang="ja-JP" sz="2000" b="1" dirty="0">
                <a:solidFill>
                  <a:srgbClr val="00B050"/>
                </a:solidFill>
              </a:rPr>
              <a:t>50msec</a:t>
            </a:r>
            <a:r>
              <a:rPr lang="ja-JP" altLang="en-US" sz="2000" b="1">
                <a:solidFill>
                  <a:srgbClr val="00B050"/>
                </a:solidFill>
              </a:rPr>
              <a:t>を超えたものの比率</a:t>
            </a:r>
            <a:r>
              <a:rPr lang="en-US" altLang="ja-JP" sz="2000" b="1" dirty="0">
                <a:solidFill>
                  <a:srgbClr val="00B050"/>
                </a:solidFill>
              </a:rPr>
              <a:t>(</a:t>
            </a:r>
            <a:r>
              <a:rPr lang="ja-JP" altLang="en-US" sz="2000" b="1">
                <a:solidFill>
                  <a:srgbClr val="00B050"/>
                </a:solidFill>
              </a:rPr>
              <a:t>副交感</a:t>
            </a:r>
            <a:r>
              <a:rPr lang="en-US" altLang="ja-JP" sz="2000" b="1" dirty="0">
                <a:solidFill>
                  <a:srgbClr val="00B050"/>
                </a:solidFill>
              </a:rPr>
              <a:t>)</a:t>
            </a:r>
          </a:p>
          <a:p>
            <a:pPr marL="0" indent="0">
              <a:buNone/>
            </a:pPr>
            <a:r>
              <a:rPr lang="ja-JP" altLang="en-US" sz="2000" b="1">
                <a:solidFill>
                  <a:srgbClr val="00B050"/>
                </a:solidFill>
              </a:rPr>
              <a:t>　・</a:t>
            </a:r>
            <a:r>
              <a:rPr lang="en-US" altLang="ja-JP" sz="2000" b="1" dirty="0">
                <a:solidFill>
                  <a:srgbClr val="00B050"/>
                </a:solidFill>
              </a:rPr>
              <a:t>LPS</a:t>
            </a:r>
            <a:r>
              <a:rPr lang="ja-JP" altLang="en-US" sz="2000" b="1">
                <a:solidFill>
                  <a:srgbClr val="00B050"/>
                </a:solidFill>
              </a:rPr>
              <a:t>：</a:t>
            </a:r>
            <a:r>
              <a:rPr lang="en-US" altLang="ja-JP" sz="2000" b="1" dirty="0">
                <a:solidFill>
                  <a:srgbClr val="00B050"/>
                </a:solidFill>
              </a:rPr>
              <a:t>LP</a:t>
            </a:r>
            <a:r>
              <a:rPr lang="ja-JP" altLang="en-US" sz="2000" b="1">
                <a:solidFill>
                  <a:srgbClr val="00B050"/>
                </a:solidFill>
              </a:rPr>
              <a:t>面積</a:t>
            </a:r>
            <a:r>
              <a:rPr lang="en-US" altLang="ja-JP" sz="2000" b="1" dirty="0">
                <a:solidFill>
                  <a:srgbClr val="00B050"/>
                </a:solidFill>
              </a:rPr>
              <a:t>(</a:t>
            </a:r>
            <a:r>
              <a:rPr lang="ja-JP" altLang="en-US" sz="2000" b="1">
                <a:solidFill>
                  <a:srgbClr val="00B050"/>
                </a:solidFill>
              </a:rPr>
              <a:t>副交感</a:t>
            </a:r>
            <a:r>
              <a:rPr lang="en-US" altLang="ja-JP" sz="2000" b="1" dirty="0">
                <a:solidFill>
                  <a:srgbClr val="00B050"/>
                </a:solidFill>
              </a:rPr>
              <a:t>)</a:t>
            </a:r>
          </a:p>
          <a:p>
            <a:pPr marL="0" indent="0">
              <a:buNone/>
            </a:pPr>
            <a:r>
              <a:rPr lang="en-US" altLang="ja-JP" sz="2000" b="1" dirty="0"/>
              <a:t>※</a:t>
            </a:r>
            <a:r>
              <a:rPr lang="ja-JP" altLang="en-US" sz="2000" b="1"/>
              <a:t>まさとさん修論の手法で正規化．数値が大きいほど交感神経有意</a:t>
            </a:r>
            <a:endParaRPr lang="en-US" altLang="ja-JP" sz="2000" b="1" dirty="0"/>
          </a:p>
        </p:txBody>
      </p:sp>
    </p:spTree>
    <p:extLst>
      <p:ext uri="{BB962C8B-B14F-4D97-AF65-F5344CB8AC3E}">
        <p14:creationId xmlns:p14="http://schemas.microsoft.com/office/powerpoint/2010/main" val="1820301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E127E0-0C1D-6247-B936-54C696F1BE36}"/>
              </a:ext>
            </a:extLst>
          </p:cNvPr>
          <p:cNvSpPr>
            <a:spLocks noGrp="1"/>
          </p:cNvSpPr>
          <p:nvPr>
            <p:ph type="title"/>
          </p:nvPr>
        </p:nvSpPr>
        <p:spPr/>
        <p:txBody>
          <a:bodyPr/>
          <a:lstStyle/>
          <a:p>
            <a:r>
              <a:rPr kumimoji="1" lang="ja-JP" altLang="en-US" b="1"/>
              <a:t>生理指標：</a:t>
            </a:r>
            <a:r>
              <a:rPr kumimoji="1" lang="en-US" altLang="ja-JP" b="1" dirty="0"/>
              <a:t>HR, pNN50</a:t>
            </a:r>
            <a:endParaRPr kumimoji="1" lang="ja-JP" altLang="en-US" b="1"/>
          </a:p>
        </p:txBody>
      </p:sp>
      <p:sp>
        <p:nvSpPr>
          <p:cNvPr id="3" name="コンテンツ プレースホルダー 2">
            <a:extLst>
              <a:ext uri="{FF2B5EF4-FFF2-40B4-BE49-F238E27FC236}">
                <a16:creationId xmlns:a16="http://schemas.microsoft.com/office/drawing/2014/main" id="{5FD9920C-6ABB-CA4F-AC22-1A41FAE9E222}"/>
              </a:ext>
            </a:extLst>
          </p:cNvPr>
          <p:cNvSpPr>
            <a:spLocks noGrp="1"/>
          </p:cNvSpPr>
          <p:nvPr>
            <p:ph sz="half" idx="1"/>
          </p:nvPr>
        </p:nvSpPr>
        <p:spPr/>
        <p:txBody>
          <a:bodyPr>
            <a:normAutofit fontScale="70000" lnSpcReduction="20000"/>
          </a:bodyPr>
          <a:lstStyle/>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r>
              <a:rPr lang="en-US" altLang="ja-JP" dirty="0">
                <a:solidFill>
                  <a:schemeClr val="accent1"/>
                </a:solidFill>
              </a:rPr>
              <a:t>    </a:t>
            </a:r>
          </a:p>
          <a:p>
            <a:pPr marL="0" indent="0">
              <a:buNone/>
            </a:pPr>
            <a:r>
              <a:rPr lang="ja-JP" altLang="en-US">
                <a:solidFill>
                  <a:schemeClr val="accent1"/>
                </a:solidFill>
              </a:rPr>
              <a:t>　青：情動なし　</a:t>
            </a:r>
            <a:r>
              <a:rPr lang="ja-JP" altLang="en-US" b="1">
                <a:solidFill>
                  <a:srgbClr val="FFC000"/>
                </a:solidFill>
              </a:rPr>
              <a:t>黄色：情動あり</a:t>
            </a:r>
            <a:endParaRPr lang="en-US" altLang="ja-JP" dirty="0"/>
          </a:p>
          <a:p>
            <a:pPr marL="0" indent="0">
              <a:buNone/>
            </a:pPr>
            <a:r>
              <a:rPr lang="ja-JP" altLang="en-US"/>
              <a:t>○情動喚起の主効果</a:t>
            </a:r>
            <a:endParaRPr lang="en-US" altLang="ja-JP" dirty="0"/>
          </a:p>
          <a:p>
            <a:pPr marL="0" indent="0">
              <a:buNone/>
            </a:pPr>
            <a:r>
              <a:rPr lang="ja-JP" altLang="en-US"/>
              <a:t>　</a:t>
            </a:r>
            <a:r>
              <a:rPr lang="en-US" altLang="ja-JP" dirty="0"/>
              <a:t>F(1,4)=0.48   p=0.5280 ns</a:t>
            </a:r>
          </a:p>
          <a:p>
            <a:pPr marL="0" indent="0">
              <a:buNone/>
            </a:pPr>
            <a:r>
              <a:rPr lang="ja-JP" altLang="en-US"/>
              <a:t>○</a:t>
            </a:r>
            <a:r>
              <a:rPr lang="en-US" altLang="ja-JP" dirty="0"/>
              <a:t>TP</a:t>
            </a:r>
            <a:r>
              <a:rPr lang="ja-JP" altLang="en-US"/>
              <a:t>の主効果</a:t>
            </a:r>
            <a:endParaRPr lang="en-US" altLang="ja-JP" dirty="0"/>
          </a:p>
          <a:p>
            <a:pPr marL="0" indent="0">
              <a:buNone/>
            </a:pPr>
            <a:r>
              <a:rPr lang="en-US" altLang="ja-JP" dirty="0"/>
              <a:t>    F(1,4)=0.09   p=0.7810 ns</a:t>
            </a:r>
          </a:p>
          <a:p>
            <a:pPr marL="0" indent="0">
              <a:buNone/>
            </a:pPr>
            <a:r>
              <a:rPr lang="ja-JP" altLang="en-US"/>
              <a:t>○交互作用</a:t>
            </a:r>
            <a:endParaRPr lang="en-US" altLang="ja-JP" dirty="0"/>
          </a:p>
          <a:p>
            <a:pPr marL="0" indent="0">
              <a:buNone/>
            </a:pPr>
            <a:r>
              <a:rPr lang="en-US" altLang="ja-JP" dirty="0"/>
              <a:t>   F(1,4)=12.30   p=0.0247 (&lt;.05)</a:t>
            </a:r>
          </a:p>
          <a:p>
            <a:pPr marL="0" indent="0">
              <a:buNone/>
            </a:pPr>
            <a:endParaRPr kumimoji="1" lang="ja-JP" altLang="en-US"/>
          </a:p>
        </p:txBody>
      </p:sp>
      <p:sp>
        <p:nvSpPr>
          <p:cNvPr id="4" name="コンテンツ プレースホルダー 3">
            <a:extLst>
              <a:ext uri="{FF2B5EF4-FFF2-40B4-BE49-F238E27FC236}">
                <a16:creationId xmlns:a16="http://schemas.microsoft.com/office/drawing/2014/main" id="{56C382B9-89DD-C743-B9D4-B77A33CDDE62}"/>
              </a:ext>
            </a:extLst>
          </p:cNvPr>
          <p:cNvSpPr>
            <a:spLocks noGrp="1"/>
          </p:cNvSpPr>
          <p:nvPr>
            <p:ph sz="half" idx="2"/>
          </p:nvPr>
        </p:nvSpPr>
        <p:spPr/>
        <p:txBody>
          <a:bodyPr>
            <a:noAutofit/>
          </a:bodyPr>
          <a:lstStyle/>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r>
              <a:rPr lang="ja-JP" altLang="en-US" sz="1800">
                <a:solidFill>
                  <a:schemeClr val="accent1"/>
                </a:solidFill>
              </a:rPr>
              <a:t>　青：情動なし　</a:t>
            </a:r>
            <a:r>
              <a:rPr lang="ja-JP" altLang="en-US" sz="1800" b="1">
                <a:solidFill>
                  <a:srgbClr val="FFC000"/>
                </a:solidFill>
              </a:rPr>
              <a:t>黄色：情動あり</a:t>
            </a:r>
            <a:endParaRPr lang="en-US" altLang="ja-JP" sz="1800" dirty="0"/>
          </a:p>
          <a:p>
            <a:pPr marL="0" indent="0">
              <a:buNone/>
            </a:pPr>
            <a:r>
              <a:rPr lang="ja-JP" altLang="en-US" sz="1800"/>
              <a:t>○情動喚起の主効果</a:t>
            </a:r>
            <a:endParaRPr lang="en-US" altLang="ja-JP" sz="1800" dirty="0"/>
          </a:p>
          <a:p>
            <a:pPr marL="0" indent="0">
              <a:buNone/>
            </a:pPr>
            <a:r>
              <a:rPr lang="ja-JP" altLang="en-US" sz="1800"/>
              <a:t>　</a:t>
            </a:r>
            <a:r>
              <a:rPr lang="en-US" altLang="ja-JP" sz="1800" dirty="0"/>
              <a:t>F(1,4)=4.73   p=0.0952 (&lt;.10)</a:t>
            </a:r>
          </a:p>
          <a:p>
            <a:pPr marL="0" indent="0">
              <a:buNone/>
            </a:pPr>
            <a:r>
              <a:rPr lang="ja-JP" altLang="en-US" sz="1800"/>
              <a:t>○</a:t>
            </a:r>
            <a:r>
              <a:rPr lang="en-US" altLang="ja-JP" sz="1800" dirty="0"/>
              <a:t>TP</a:t>
            </a:r>
            <a:r>
              <a:rPr lang="ja-JP" altLang="en-US" sz="1800"/>
              <a:t>の主効果</a:t>
            </a:r>
            <a:endParaRPr lang="en-US" altLang="ja-JP" sz="1800" dirty="0"/>
          </a:p>
          <a:p>
            <a:pPr marL="0" indent="0">
              <a:buNone/>
            </a:pPr>
            <a:r>
              <a:rPr lang="en-US" altLang="ja-JP" sz="1800" dirty="0"/>
              <a:t>    F(1,4)=1.09  p=0.0952 ns</a:t>
            </a:r>
          </a:p>
          <a:p>
            <a:pPr marL="0" indent="0">
              <a:buNone/>
            </a:pPr>
            <a:r>
              <a:rPr lang="ja-JP" altLang="en-US" sz="1800"/>
              <a:t>○交互作用</a:t>
            </a:r>
            <a:endParaRPr lang="en-US" altLang="ja-JP" sz="1800" dirty="0"/>
          </a:p>
          <a:p>
            <a:pPr marL="0" indent="0">
              <a:buNone/>
            </a:pPr>
            <a:r>
              <a:rPr lang="en-US" altLang="ja-JP" sz="1800" dirty="0"/>
              <a:t>   F(1,4)=0.09   0.7734 ns</a:t>
            </a:r>
          </a:p>
        </p:txBody>
      </p:sp>
      <p:pic>
        <p:nvPicPr>
          <p:cNvPr id="8" name="図 7" descr="グラフ, 折れ線グラフ&#10;&#10;自動的に生成された説明">
            <a:extLst>
              <a:ext uri="{FF2B5EF4-FFF2-40B4-BE49-F238E27FC236}">
                <a16:creationId xmlns:a16="http://schemas.microsoft.com/office/drawing/2014/main" id="{25039A1C-BF56-7A4E-9824-5823D2D387CB}"/>
              </a:ext>
            </a:extLst>
          </p:cNvPr>
          <p:cNvPicPr>
            <a:picLocks noChangeAspect="1"/>
          </p:cNvPicPr>
          <p:nvPr/>
        </p:nvPicPr>
        <p:blipFill>
          <a:blip r:embed="rId2"/>
          <a:stretch>
            <a:fillRect/>
          </a:stretch>
        </p:blipFill>
        <p:spPr>
          <a:xfrm>
            <a:off x="104676" y="1062991"/>
            <a:ext cx="4410174" cy="2495112"/>
          </a:xfrm>
          <a:prstGeom prst="rect">
            <a:avLst/>
          </a:prstGeom>
        </p:spPr>
      </p:pic>
      <p:pic>
        <p:nvPicPr>
          <p:cNvPr id="14" name="図 13">
            <a:extLst>
              <a:ext uri="{FF2B5EF4-FFF2-40B4-BE49-F238E27FC236}">
                <a16:creationId xmlns:a16="http://schemas.microsoft.com/office/drawing/2014/main" id="{FF7F6D15-C0D0-564A-A5BB-3DEA6074F993}"/>
              </a:ext>
            </a:extLst>
          </p:cNvPr>
          <p:cNvPicPr>
            <a:picLocks noChangeAspect="1"/>
          </p:cNvPicPr>
          <p:nvPr/>
        </p:nvPicPr>
        <p:blipFill>
          <a:blip r:embed="rId3"/>
          <a:srcRect/>
          <a:stretch/>
        </p:blipFill>
        <p:spPr>
          <a:xfrm>
            <a:off x="4673064" y="1062991"/>
            <a:ext cx="4150855" cy="2307875"/>
          </a:xfrm>
          <a:prstGeom prst="rect">
            <a:avLst/>
          </a:prstGeom>
        </p:spPr>
      </p:pic>
    </p:spTree>
    <p:extLst>
      <p:ext uri="{BB962C8B-B14F-4D97-AF65-F5344CB8AC3E}">
        <p14:creationId xmlns:p14="http://schemas.microsoft.com/office/powerpoint/2010/main" val="2548745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E127E0-0C1D-6247-B936-54C696F1BE36}"/>
              </a:ext>
            </a:extLst>
          </p:cNvPr>
          <p:cNvSpPr>
            <a:spLocks noGrp="1"/>
          </p:cNvSpPr>
          <p:nvPr>
            <p:ph type="title"/>
          </p:nvPr>
        </p:nvSpPr>
        <p:spPr/>
        <p:txBody>
          <a:bodyPr/>
          <a:lstStyle/>
          <a:p>
            <a:r>
              <a:rPr kumimoji="1" lang="ja-JP" altLang="en-US" b="1"/>
              <a:t>生理指標：</a:t>
            </a:r>
            <a:r>
              <a:rPr lang="en-US" altLang="ja-JP" b="1" dirty="0"/>
              <a:t>SDNN, RMSSD</a:t>
            </a:r>
            <a:endParaRPr kumimoji="1" lang="ja-JP" altLang="en-US" b="1"/>
          </a:p>
        </p:txBody>
      </p:sp>
      <p:sp>
        <p:nvSpPr>
          <p:cNvPr id="3" name="コンテンツ プレースホルダー 2">
            <a:extLst>
              <a:ext uri="{FF2B5EF4-FFF2-40B4-BE49-F238E27FC236}">
                <a16:creationId xmlns:a16="http://schemas.microsoft.com/office/drawing/2014/main" id="{5FD9920C-6ABB-CA4F-AC22-1A41FAE9E222}"/>
              </a:ext>
            </a:extLst>
          </p:cNvPr>
          <p:cNvSpPr>
            <a:spLocks noGrp="1"/>
          </p:cNvSpPr>
          <p:nvPr>
            <p:ph sz="half" idx="1"/>
          </p:nvPr>
        </p:nvSpPr>
        <p:spPr/>
        <p:txBody>
          <a:bodyPr>
            <a:normAutofit fontScale="70000" lnSpcReduction="20000"/>
          </a:bodyPr>
          <a:lstStyle/>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r>
              <a:rPr lang="en-US" altLang="ja-JP" dirty="0">
                <a:solidFill>
                  <a:schemeClr val="accent1"/>
                </a:solidFill>
              </a:rPr>
              <a:t>    </a:t>
            </a:r>
          </a:p>
          <a:p>
            <a:pPr marL="0" indent="0">
              <a:buNone/>
            </a:pPr>
            <a:r>
              <a:rPr lang="ja-JP" altLang="en-US">
                <a:solidFill>
                  <a:schemeClr val="accent1"/>
                </a:solidFill>
              </a:rPr>
              <a:t>　青：情動なし　</a:t>
            </a:r>
            <a:r>
              <a:rPr lang="ja-JP" altLang="en-US" b="1">
                <a:solidFill>
                  <a:srgbClr val="FFC000"/>
                </a:solidFill>
              </a:rPr>
              <a:t>黄色：情動あり</a:t>
            </a:r>
            <a:endParaRPr lang="en-US" altLang="ja-JP" dirty="0"/>
          </a:p>
          <a:p>
            <a:pPr marL="0" indent="0">
              <a:buNone/>
            </a:pPr>
            <a:r>
              <a:rPr lang="ja-JP" altLang="en-US"/>
              <a:t>○情動喚起の主効果</a:t>
            </a:r>
            <a:endParaRPr lang="en-US" altLang="ja-JP" dirty="0"/>
          </a:p>
          <a:p>
            <a:pPr marL="0" indent="0">
              <a:buNone/>
            </a:pPr>
            <a:r>
              <a:rPr lang="ja-JP" altLang="en-US"/>
              <a:t>　</a:t>
            </a:r>
            <a:r>
              <a:rPr lang="en-US" altLang="ja-JP" dirty="0"/>
              <a:t>F(1,6)=0.01   p=0.9214 ns</a:t>
            </a:r>
          </a:p>
          <a:p>
            <a:pPr marL="0" indent="0">
              <a:buNone/>
            </a:pPr>
            <a:r>
              <a:rPr lang="ja-JP" altLang="en-US"/>
              <a:t>○</a:t>
            </a:r>
            <a:r>
              <a:rPr lang="en-US" altLang="ja-JP" dirty="0"/>
              <a:t>TP</a:t>
            </a:r>
            <a:r>
              <a:rPr lang="ja-JP" altLang="en-US"/>
              <a:t>の主効果</a:t>
            </a:r>
            <a:endParaRPr lang="en-US" altLang="ja-JP" dirty="0"/>
          </a:p>
          <a:p>
            <a:pPr marL="0" indent="0">
              <a:buNone/>
            </a:pPr>
            <a:r>
              <a:rPr lang="en-US" altLang="ja-JP" dirty="0"/>
              <a:t>    F(1,6)=0.47   p=0.5326 ns</a:t>
            </a:r>
          </a:p>
          <a:p>
            <a:pPr marL="0" indent="0">
              <a:buNone/>
            </a:pPr>
            <a:r>
              <a:rPr lang="ja-JP" altLang="en-US"/>
              <a:t>○交互作用</a:t>
            </a:r>
            <a:endParaRPr lang="en-US" altLang="ja-JP" dirty="0"/>
          </a:p>
          <a:p>
            <a:pPr marL="0" indent="0">
              <a:buNone/>
            </a:pPr>
            <a:r>
              <a:rPr lang="en-US" altLang="ja-JP" dirty="0"/>
              <a:t>   F(1,6)=0.21   p=0.6675 (&lt;.05)</a:t>
            </a:r>
          </a:p>
          <a:p>
            <a:pPr marL="0" indent="0">
              <a:buNone/>
            </a:pPr>
            <a:endParaRPr kumimoji="1" lang="ja-JP" altLang="en-US"/>
          </a:p>
        </p:txBody>
      </p:sp>
      <p:sp>
        <p:nvSpPr>
          <p:cNvPr id="4" name="コンテンツ プレースホルダー 3">
            <a:extLst>
              <a:ext uri="{FF2B5EF4-FFF2-40B4-BE49-F238E27FC236}">
                <a16:creationId xmlns:a16="http://schemas.microsoft.com/office/drawing/2014/main" id="{56C382B9-89DD-C743-B9D4-B77A33CDDE62}"/>
              </a:ext>
            </a:extLst>
          </p:cNvPr>
          <p:cNvSpPr>
            <a:spLocks noGrp="1"/>
          </p:cNvSpPr>
          <p:nvPr>
            <p:ph sz="half" idx="2"/>
          </p:nvPr>
        </p:nvSpPr>
        <p:spPr/>
        <p:txBody>
          <a:bodyPr>
            <a:normAutofit fontScale="70000" lnSpcReduction="20000"/>
          </a:bodyPr>
          <a:lstStyle/>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r>
              <a:rPr lang="en-US" altLang="ja-JP" dirty="0">
                <a:solidFill>
                  <a:schemeClr val="accent1"/>
                </a:solidFill>
              </a:rPr>
              <a:t>    </a:t>
            </a:r>
          </a:p>
          <a:p>
            <a:pPr marL="0" indent="0">
              <a:buNone/>
            </a:pPr>
            <a:r>
              <a:rPr lang="ja-JP" altLang="en-US">
                <a:solidFill>
                  <a:schemeClr val="accent1"/>
                </a:solidFill>
              </a:rPr>
              <a:t>　青：情動なし　</a:t>
            </a:r>
            <a:r>
              <a:rPr lang="ja-JP" altLang="en-US" b="1">
                <a:solidFill>
                  <a:srgbClr val="FFC000"/>
                </a:solidFill>
              </a:rPr>
              <a:t>黄色：情動あり</a:t>
            </a:r>
            <a:endParaRPr lang="en-US" altLang="ja-JP" dirty="0"/>
          </a:p>
          <a:p>
            <a:pPr marL="0" indent="0">
              <a:buNone/>
            </a:pPr>
            <a:r>
              <a:rPr lang="ja-JP" altLang="en-US"/>
              <a:t>○情動喚起の主効果</a:t>
            </a:r>
            <a:endParaRPr lang="en-US" altLang="ja-JP" dirty="0"/>
          </a:p>
          <a:p>
            <a:pPr marL="0" indent="0">
              <a:buNone/>
            </a:pPr>
            <a:r>
              <a:rPr lang="ja-JP" altLang="en-US"/>
              <a:t>　</a:t>
            </a:r>
            <a:r>
              <a:rPr lang="en-US" altLang="ja-JP" dirty="0"/>
              <a:t>F(1,6)=17.22   p=0.0143 (&lt;.05)</a:t>
            </a:r>
          </a:p>
          <a:p>
            <a:pPr marL="0" indent="0">
              <a:buNone/>
            </a:pPr>
            <a:r>
              <a:rPr lang="ja-JP" altLang="en-US"/>
              <a:t>○</a:t>
            </a:r>
            <a:r>
              <a:rPr lang="en-US" altLang="ja-JP" dirty="0"/>
              <a:t>TP</a:t>
            </a:r>
            <a:r>
              <a:rPr lang="ja-JP" altLang="en-US"/>
              <a:t>の主効果</a:t>
            </a:r>
            <a:endParaRPr lang="en-US" altLang="ja-JP" dirty="0"/>
          </a:p>
          <a:p>
            <a:pPr marL="0" indent="0">
              <a:buNone/>
            </a:pPr>
            <a:r>
              <a:rPr lang="en-US" altLang="ja-JP" dirty="0"/>
              <a:t>    F(1,6)=0.07   p=0.8104 ns</a:t>
            </a:r>
          </a:p>
          <a:p>
            <a:pPr marL="0" indent="0">
              <a:buNone/>
            </a:pPr>
            <a:r>
              <a:rPr lang="ja-JP" altLang="en-US"/>
              <a:t>○交互作用</a:t>
            </a:r>
            <a:endParaRPr lang="en-US" altLang="ja-JP" dirty="0"/>
          </a:p>
          <a:p>
            <a:pPr marL="0" indent="0">
              <a:buNone/>
            </a:pPr>
            <a:r>
              <a:rPr lang="en-US" altLang="ja-JP" dirty="0"/>
              <a:t>   F(1,6)=0.50   p=0.5183 ns</a:t>
            </a:r>
          </a:p>
        </p:txBody>
      </p:sp>
      <p:pic>
        <p:nvPicPr>
          <p:cNvPr id="8" name="図 7">
            <a:extLst>
              <a:ext uri="{FF2B5EF4-FFF2-40B4-BE49-F238E27FC236}">
                <a16:creationId xmlns:a16="http://schemas.microsoft.com/office/drawing/2014/main" id="{25039A1C-BF56-7A4E-9824-5823D2D387CB}"/>
              </a:ext>
            </a:extLst>
          </p:cNvPr>
          <p:cNvPicPr>
            <a:picLocks noChangeAspect="1"/>
          </p:cNvPicPr>
          <p:nvPr/>
        </p:nvPicPr>
        <p:blipFill>
          <a:blip r:embed="rId2"/>
          <a:srcRect/>
          <a:stretch/>
        </p:blipFill>
        <p:spPr>
          <a:xfrm>
            <a:off x="104676" y="1101446"/>
            <a:ext cx="4410174" cy="2418201"/>
          </a:xfrm>
          <a:prstGeom prst="rect">
            <a:avLst/>
          </a:prstGeom>
        </p:spPr>
      </p:pic>
      <p:pic>
        <p:nvPicPr>
          <p:cNvPr id="10" name="図 9">
            <a:extLst>
              <a:ext uri="{FF2B5EF4-FFF2-40B4-BE49-F238E27FC236}">
                <a16:creationId xmlns:a16="http://schemas.microsoft.com/office/drawing/2014/main" id="{27D9DAA4-972E-AC48-A052-DB7CEBD32A21}"/>
              </a:ext>
            </a:extLst>
          </p:cNvPr>
          <p:cNvPicPr>
            <a:picLocks noChangeAspect="1"/>
          </p:cNvPicPr>
          <p:nvPr/>
        </p:nvPicPr>
        <p:blipFill>
          <a:blip r:embed="rId3"/>
          <a:srcRect/>
          <a:stretch/>
        </p:blipFill>
        <p:spPr>
          <a:xfrm>
            <a:off x="4572000" y="1128502"/>
            <a:ext cx="4251960" cy="2364089"/>
          </a:xfrm>
          <a:prstGeom prst="rect">
            <a:avLst/>
          </a:prstGeom>
        </p:spPr>
      </p:pic>
    </p:spTree>
    <p:extLst>
      <p:ext uri="{BB962C8B-B14F-4D97-AF65-F5344CB8AC3E}">
        <p14:creationId xmlns:p14="http://schemas.microsoft.com/office/powerpoint/2010/main" val="3145038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0C310C-F1B6-7148-A61C-BD90F20CECAA}"/>
              </a:ext>
            </a:extLst>
          </p:cNvPr>
          <p:cNvSpPr>
            <a:spLocks noGrp="1"/>
          </p:cNvSpPr>
          <p:nvPr>
            <p:ph type="title"/>
          </p:nvPr>
        </p:nvSpPr>
        <p:spPr/>
        <p:txBody>
          <a:bodyPr/>
          <a:lstStyle/>
          <a:p>
            <a:r>
              <a:rPr lang="ja-JP" altLang="en-US" b="1"/>
              <a:t>生理指標：</a:t>
            </a:r>
            <a:r>
              <a:rPr lang="en-US" altLang="ja-JP" b="1" dirty="0"/>
              <a:t>LPS, CSI</a:t>
            </a:r>
            <a:endParaRPr kumimoji="1" lang="ja-JP" altLang="en-US"/>
          </a:p>
        </p:txBody>
      </p:sp>
      <p:sp>
        <p:nvSpPr>
          <p:cNvPr id="3" name="コンテンツ プレースホルダー 2">
            <a:extLst>
              <a:ext uri="{FF2B5EF4-FFF2-40B4-BE49-F238E27FC236}">
                <a16:creationId xmlns:a16="http://schemas.microsoft.com/office/drawing/2014/main" id="{C65A93DE-AE66-C947-BD61-2572D5348474}"/>
              </a:ext>
            </a:extLst>
          </p:cNvPr>
          <p:cNvSpPr>
            <a:spLocks noGrp="1"/>
          </p:cNvSpPr>
          <p:nvPr>
            <p:ph sz="half" idx="1"/>
          </p:nvPr>
        </p:nvSpPr>
        <p:spPr/>
        <p:txBody>
          <a:bodyPr>
            <a:normAutofit fontScale="92500" lnSpcReduction="20000"/>
          </a:bodyPr>
          <a:lstStyle/>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r>
              <a:rPr lang="ja-JP" altLang="en-US" sz="1800">
                <a:solidFill>
                  <a:schemeClr val="accent1"/>
                </a:solidFill>
              </a:rPr>
              <a:t>　青：情動なし　</a:t>
            </a:r>
            <a:r>
              <a:rPr lang="ja-JP" altLang="en-US" sz="1800" b="1">
                <a:solidFill>
                  <a:srgbClr val="FFC000"/>
                </a:solidFill>
              </a:rPr>
              <a:t>黄色：情動あり</a:t>
            </a:r>
            <a:endParaRPr lang="en-US" altLang="ja-JP" sz="1800" dirty="0"/>
          </a:p>
          <a:p>
            <a:pPr marL="0" indent="0">
              <a:buNone/>
            </a:pPr>
            <a:r>
              <a:rPr lang="ja-JP" altLang="en-US" sz="1800"/>
              <a:t>○情動喚起の主効果</a:t>
            </a:r>
            <a:endParaRPr lang="en-US" altLang="ja-JP" sz="1800" dirty="0"/>
          </a:p>
          <a:p>
            <a:pPr marL="0" indent="0">
              <a:buNone/>
            </a:pPr>
            <a:r>
              <a:rPr lang="ja-JP" altLang="en-US" sz="1800"/>
              <a:t>　</a:t>
            </a:r>
            <a:r>
              <a:rPr lang="en-US" altLang="ja-JP" sz="1800" dirty="0"/>
              <a:t>F(1,4)=1.67   p=0. 2656 ns</a:t>
            </a:r>
          </a:p>
          <a:p>
            <a:pPr marL="0" indent="0">
              <a:buNone/>
            </a:pPr>
            <a:r>
              <a:rPr lang="ja-JP" altLang="en-US" sz="1800"/>
              <a:t>○</a:t>
            </a:r>
            <a:r>
              <a:rPr lang="en-US" altLang="ja-JP" sz="1800" dirty="0"/>
              <a:t>TP</a:t>
            </a:r>
            <a:r>
              <a:rPr lang="ja-JP" altLang="en-US" sz="1800"/>
              <a:t>の主効果</a:t>
            </a:r>
            <a:endParaRPr lang="en-US" altLang="ja-JP" sz="1800" dirty="0"/>
          </a:p>
          <a:p>
            <a:pPr marL="0" indent="0">
              <a:buNone/>
            </a:pPr>
            <a:r>
              <a:rPr lang="en-US" altLang="ja-JP" sz="1800" dirty="0"/>
              <a:t>    F(1,4)=0.07   p=0.8027 ns</a:t>
            </a:r>
          </a:p>
          <a:p>
            <a:pPr marL="0" indent="0">
              <a:buNone/>
            </a:pPr>
            <a:r>
              <a:rPr lang="ja-JP" altLang="en-US" sz="1800"/>
              <a:t>○交互作用</a:t>
            </a:r>
            <a:endParaRPr lang="en-US" altLang="ja-JP" sz="1800" dirty="0"/>
          </a:p>
          <a:p>
            <a:pPr marL="0" indent="0">
              <a:buNone/>
            </a:pPr>
            <a:r>
              <a:rPr lang="en-US" altLang="ja-JP" sz="1800" dirty="0"/>
              <a:t>   F(1,4)=0.51   0.5166 ns</a:t>
            </a:r>
          </a:p>
          <a:p>
            <a:pPr marL="0" indent="0">
              <a:buNone/>
            </a:pPr>
            <a:endParaRPr lang="en-US" altLang="ja-JP" sz="1800" dirty="0"/>
          </a:p>
          <a:p>
            <a:pPr marL="0" indent="0">
              <a:buNone/>
            </a:pPr>
            <a:endParaRPr kumimoji="1" lang="ja-JP" altLang="en-US" sz="1800"/>
          </a:p>
        </p:txBody>
      </p:sp>
      <p:sp>
        <p:nvSpPr>
          <p:cNvPr id="4" name="コンテンツ プレースホルダー 3">
            <a:extLst>
              <a:ext uri="{FF2B5EF4-FFF2-40B4-BE49-F238E27FC236}">
                <a16:creationId xmlns:a16="http://schemas.microsoft.com/office/drawing/2014/main" id="{4B0B7895-8A98-6743-8625-613E51574E16}"/>
              </a:ext>
            </a:extLst>
          </p:cNvPr>
          <p:cNvSpPr>
            <a:spLocks noGrp="1"/>
          </p:cNvSpPr>
          <p:nvPr>
            <p:ph sz="half" idx="2"/>
          </p:nvPr>
        </p:nvSpPr>
        <p:spPr/>
        <p:txBody>
          <a:bodyPr>
            <a:normAutofit fontScale="92500" lnSpcReduction="20000"/>
          </a:bodyPr>
          <a:lstStyle/>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r>
              <a:rPr lang="en-US" altLang="ja-JP" sz="1800" dirty="0">
                <a:solidFill>
                  <a:schemeClr val="accent1"/>
                </a:solidFill>
              </a:rPr>
              <a:t>    </a:t>
            </a:r>
          </a:p>
          <a:p>
            <a:pPr marL="0" indent="0">
              <a:buNone/>
            </a:pPr>
            <a:r>
              <a:rPr lang="ja-JP" altLang="en-US" sz="1800">
                <a:solidFill>
                  <a:schemeClr val="accent1"/>
                </a:solidFill>
              </a:rPr>
              <a:t>　青：情動なし　</a:t>
            </a:r>
            <a:r>
              <a:rPr lang="ja-JP" altLang="en-US" sz="1800" b="1">
                <a:solidFill>
                  <a:srgbClr val="FFC000"/>
                </a:solidFill>
              </a:rPr>
              <a:t>黄色：情動あり</a:t>
            </a:r>
            <a:endParaRPr lang="en-US" altLang="ja-JP" sz="1800" dirty="0"/>
          </a:p>
          <a:p>
            <a:pPr marL="0" indent="0">
              <a:buNone/>
            </a:pPr>
            <a:r>
              <a:rPr lang="en-US" altLang="ja-JP" sz="1800" dirty="0"/>
              <a:t>CSI = (LP</a:t>
            </a:r>
            <a:r>
              <a:rPr lang="ja-JP" altLang="en-US" sz="1800"/>
              <a:t>の長辺</a:t>
            </a:r>
            <a:r>
              <a:rPr lang="en-US" altLang="ja-JP" sz="1800" dirty="0"/>
              <a:t>)/(LP</a:t>
            </a:r>
            <a:r>
              <a:rPr lang="ja-JP" altLang="en-US" sz="1800"/>
              <a:t>の短辺</a:t>
            </a:r>
            <a:r>
              <a:rPr lang="en-US" altLang="ja-JP" sz="1800" dirty="0"/>
              <a:t>) (</a:t>
            </a:r>
            <a:r>
              <a:rPr lang="ja-JP" altLang="en-US" sz="1800" b="1">
                <a:solidFill>
                  <a:srgbClr val="C00000"/>
                </a:solidFill>
              </a:rPr>
              <a:t>交感神経指標</a:t>
            </a:r>
            <a:r>
              <a:rPr lang="en-US" altLang="ja-JP" sz="1800" dirty="0"/>
              <a:t>)</a:t>
            </a:r>
          </a:p>
          <a:p>
            <a:pPr marL="0" indent="0">
              <a:buNone/>
            </a:pPr>
            <a:r>
              <a:rPr lang="ja-JP" altLang="en-US" sz="1800"/>
              <a:t>○情動喚起の主効果</a:t>
            </a:r>
            <a:endParaRPr lang="en-US" altLang="ja-JP" sz="1800" dirty="0"/>
          </a:p>
          <a:p>
            <a:pPr marL="0" indent="0">
              <a:buNone/>
            </a:pPr>
            <a:r>
              <a:rPr lang="ja-JP" altLang="en-US" sz="1800"/>
              <a:t>　</a:t>
            </a:r>
            <a:r>
              <a:rPr lang="en-US" altLang="ja-JP" sz="1800" dirty="0"/>
              <a:t>F(1,3)=1.06   p= 0.3618 ns</a:t>
            </a:r>
          </a:p>
          <a:p>
            <a:pPr marL="0" indent="0">
              <a:buNone/>
            </a:pPr>
            <a:r>
              <a:rPr lang="ja-JP" altLang="en-US" sz="1800"/>
              <a:t>○</a:t>
            </a:r>
            <a:r>
              <a:rPr lang="en-US" altLang="ja-JP" sz="1800" dirty="0"/>
              <a:t>TP</a:t>
            </a:r>
            <a:r>
              <a:rPr lang="ja-JP" altLang="en-US" sz="1800"/>
              <a:t>の主効果</a:t>
            </a:r>
            <a:endParaRPr lang="en-US" altLang="ja-JP" sz="1800" dirty="0"/>
          </a:p>
          <a:p>
            <a:pPr marL="0" indent="0">
              <a:buNone/>
            </a:pPr>
            <a:r>
              <a:rPr lang="en-US" altLang="ja-JP" sz="1800" dirty="0"/>
              <a:t>    F(1,3)=4.13   p= 0.1120 ns</a:t>
            </a:r>
          </a:p>
          <a:p>
            <a:pPr marL="0" indent="0">
              <a:buNone/>
            </a:pPr>
            <a:r>
              <a:rPr lang="ja-JP" altLang="en-US" sz="1800"/>
              <a:t>○交互作用</a:t>
            </a:r>
            <a:endParaRPr lang="en-US" altLang="ja-JP" sz="1800" dirty="0"/>
          </a:p>
          <a:p>
            <a:pPr marL="0" indent="0">
              <a:buNone/>
            </a:pPr>
            <a:r>
              <a:rPr lang="en-US" altLang="ja-JP" sz="1800" dirty="0"/>
              <a:t>   F(1,3)=0.14   p= 0.7316 ns</a:t>
            </a:r>
          </a:p>
        </p:txBody>
      </p:sp>
      <p:pic>
        <p:nvPicPr>
          <p:cNvPr id="9" name="コンテンツ プレースホルダー 5">
            <a:extLst>
              <a:ext uri="{FF2B5EF4-FFF2-40B4-BE49-F238E27FC236}">
                <a16:creationId xmlns:a16="http://schemas.microsoft.com/office/drawing/2014/main" id="{F7A39883-68CB-574F-955A-B91C552A4CB2}"/>
              </a:ext>
            </a:extLst>
          </p:cNvPr>
          <p:cNvPicPr>
            <a:picLocks noChangeAspect="1"/>
          </p:cNvPicPr>
          <p:nvPr/>
        </p:nvPicPr>
        <p:blipFill>
          <a:blip r:embed="rId2"/>
          <a:srcRect/>
          <a:stretch/>
        </p:blipFill>
        <p:spPr>
          <a:xfrm>
            <a:off x="221181" y="1062991"/>
            <a:ext cx="4255685" cy="2366161"/>
          </a:xfrm>
          <a:prstGeom prst="rect">
            <a:avLst/>
          </a:prstGeom>
        </p:spPr>
      </p:pic>
      <p:pic>
        <p:nvPicPr>
          <p:cNvPr id="13" name="図 12" descr="グラフ, 折れ線グラフ&#10;&#10;自動的に生成された説明">
            <a:extLst>
              <a:ext uri="{FF2B5EF4-FFF2-40B4-BE49-F238E27FC236}">
                <a16:creationId xmlns:a16="http://schemas.microsoft.com/office/drawing/2014/main" id="{727AF994-452C-0A41-ABF5-22181CBE152A}"/>
              </a:ext>
            </a:extLst>
          </p:cNvPr>
          <p:cNvPicPr>
            <a:picLocks noChangeAspect="1"/>
          </p:cNvPicPr>
          <p:nvPr/>
        </p:nvPicPr>
        <p:blipFill>
          <a:blip r:embed="rId3"/>
          <a:stretch>
            <a:fillRect/>
          </a:stretch>
        </p:blipFill>
        <p:spPr>
          <a:xfrm>
            <a:off x="4325140" y="936650"/>
            <a:ext cx="4635980" cy="2577605"/>
          </a:xfrm>
          <a:prstGeom prst="rect">
            <a:avLst/>
          </a:prstGeom>
        </p:spPr>
      </p:pic>
    </p:spTree>
    <p:extLst>
      <p:ext uri="{BB962C8B-B14F-4D97-AF65-F5344CB8AC3E}">
        <p14:creationId xmlns:p14="http://schemas.microsoft.com/office/powerpoint/2010/main" val="250655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3335F8-77F2-BE4F-BC09-980D57447C42}"/>
              </a:ext>
            </a:extLst>
          </p:cNvPr>
          <p:cNvSpPr>
            <a:spLocks noGrp="1"/>
          </p:cNvSpPr>
          <p:nvPr>
            <p:ph type="title"/>
          </p:nvPr>
        </p:nvSpPr>
        <p:spPr/>
        <p:txBody>
          <a:bodyPr>
            <a:normAutofit/>
          </a:bodyPr>
          <a:lstStyle/>
          <a:p>
            <a:r>
              <a:rPr kumimoji="1" lang="ja-JP" altLang="en-US" b="1"/>
              <a:t>各パラメータの被験者ごとの評価</a:t>
            </a:r>
          </a:p>
        </p:txBody>
      </p:sp>
      <p:sp>
        <p:nvSpPr>
          <p:cNvPr id="3" name="コンテンツ プレースホルダー 2">
            <a:extLst>
              <a:ext uri="{FF2B5EF4-FFF2-40B4-BE49-F238E27FC236}">
                <a16:creationId xmlns:a16="http://schemas.microsoft.com/office/drawing/2014/main" id="{48AD75A1-C8F8-7849-BA55-CA118DBB1CC6}"/>
              </a:ext>
            </a:extLst>
          </p:cNvPr>
          <p:cNvSpPr>
            <a:spLocks noGrp="1"/>
          </p:cNvSpPr>
          <p:nvPr>
            <p:ph idx="1"/>
          </p:nvPr>
        </p:nvSpPr>
        <p:spPr/>
        <p:txBody>
          <a:bodyPr>
            <a:normAutofit/>
          </a:bodyPr>
          <a:lstStyle/>
          <a:p>
            <a:pPr marL="0" indent="0">
              <a:buNone/>
            </a:pPr>
            <a:endParaRPr kumimoji="1" lang="en-US" altLang="ja-JP" dirty="0"/>
          </a:p>
          <a:p>
            <a:pPr marL="0" indent="0">
              <a:buNone/>
            </a:pPr>
            <a:endParaRPr lang="en-US" altLang="ja-JP" dirty="0"/>
          </a:p>
          <a:p>
            <a:pPr marL="0" indent="0">
              <a:buNone/>
            </a:pPr>
            <a:endParaRPr kumimoji="1" lang="en-US" altLang="ja-JP" dirty="0"/>
          </a:p>
          <a:p>
            <a:pPr marL="0" indent="0">
              <a:buNone/>
            </a:pPr>
            <a:endParaRPr lang="en-US" altLang="ja-JP" dirty="0"/>
          </a:p>
          <a:p>
            <a:pPr marL="0" indent="0">
              <a:buNone/>
            </a:pPr>
            <a:endParaRPr kumimoji="1" lang="en-US" altLang="ja-JP" dirty="0"/>
          </a:p>
          <a:p>
            <a:pPr marL="0" indent="0">
              <a:buNone/>
            </a:pPr>
            <a:endParaRPr lang="en-US" altLang="ja-JP" dirty="0"/>
          </a:p>
          <a:p>
            <a:pPr marL="0" indent="0">
              <a:buNone/>
            </a:pPr>
            <a:endParaRPr kumimoji="1" lang="en-US" altLang="ja-JP" dirty="0"/>
          </a:p>
          <a:p>
            <a:pPr marL="0" indent="0" algn="ctr">
              <a:buNone/>
            </a:pPr>
            <a:r>
              <a:rPr lang="en-US" altLang="ja-JP" sz="1400" dirty="0"/>
              <a:t>1:</a:t>
            </a:r>
            <a:r>
              <a:rPr lang="ja-JP" altLang="en-US" sz="1400"/>
              <a:t>情動なし</a:t>
            </a:r>
            <a:r>
              <a:rPr lang="en-US" altLang="ja-JP" sz="1400" dirty="0"/>
              <a:t>×</a:t>
            </a:r>
            <a:r>
              <a:rPr lang="ja-JP" altLang="en-US" sz="1400"/>
              <a:t>低</a:t>
            </a:r>
            <a:r>
              <a:rPr lang="en-US" altLang="ja-JP" sz="1400" dirty="0"/>
              <a:t>TP</a:t>
            </a:r>
            <a:r>
              <a:rPr lang="ja-JP" altLang="en-US" sz="1400"/>
              <a:t>　</a:t>
            </a:r>
            <a:r>
              <a:rPr lang="en-US" altLang="ja-JP" sz="1400" dirty="0"/>
              <a:t>2:</a:t>
            </a:r>
            <a:r>
              <a:rPr lang="ja-JP" altLang="en-US" sz="1400"/>
              <a:t>情動なし</a:t>
            </a:r>
            <a:r>
              <a:rPr lang="en-US" altLang="ja-JP" sz="1400" dirty="0"/>
              <a:t>×</a:t>
            </a:r>
            <a:r>
              <a:rPr lang="ja-JP" altLang="en-US" sz="1400"/>
              <a:t>低</a:t>
            </a:r>
            <a:r>
              <a:rPr lang="en-US" altLang="ja-JP" sz="1400" dirty="0"/>
              <a:t>TP</a:t>
            </a:r>
            <a:r>
              <a:rPr lang="ja-JP" altLang="en-US" sz="1400"/>
              <a:t>　</a:t>
            </a:r>
            <a:r>
              <a:rPr lang="en-US" altLang="ja-JP" sz="1400" dirty="0"/>
              <a:t>3:</a:t>
            </a:r>
            <a:r>
              <a:rPr lang="ja-JP" altLang="en-US" sz="1400"/>
              <a:t>情動あり</a:t>
            </a:r>
            <a:r>
              <a:rPr lang="en-US" altLang="ja-JP" sz="1400" dirty="0"/>
              <a:t>×</a:t>
            </a:r>
            <a:r>
              <a:rPr lang="ja-JP" altLang="en-US" sz="1400"/>
              <a:t>低</a:t>
            </a:r>
            <a:r>
              <a:rPr lang="en-US" altLang="ja-JP" sz="1400" dirty="0"/>
              <a:t>TP</a:t>
            </a:r>
            <a:r>
              <a:rPr lang="ja-JP" altLang="en-US" sz="1400"/>
              <a:t>　</a:t>
            </a:r>
            <a:r>
              <a:rPr lang="en-US" altLang="ja-JP" sz="1400" dirty="0"/>
              <a:t>4:</a:t>
            </a:r>
            <a:r>
              <a:rPr lang="ja-JP" altLang="en-US" sz="1400"/>
              <a:t>情動あり</a:t>
            </a:r>
            <a:r>
              <a:rPr lang="en-US" altLang="ja-JP" sz="1400" dirty="0"/>
              <a:t>×</a:t>
            </a:r>
            <a:r>
              <a:rPr lang="ja-JP" altLang="en-US" sz="1400"/>
              <a:t>低</a:t>
            </a:r>
            <a:r>
              <a:rPr lang="en-US" altLang="ja-JP" sz="1400" dirty="0"/>
              <a:t>TP</a:t>
            </a:r>
          </a:p>
          <a:p>
            <a:pPr marL="0" indent="0">
              <a:buNone/>
            </a:pPr>
            <a:endParaRPr lang="en-US" altLang="ja-JP" sz="1800" dirty="0"/>
          </a:p>
          <a:p>
            <a:pPr marL="0" indent="0">
              <a:buNone/>
            </a:pPr>
            <a:r>
              <a:rPr lang="ja-JP" altLang="en-US" sz="1800"/>
              <a:t>・被験者ごとに挙動は全く異なる</a:t>
            </a:r>
            <a:endParaRPr lang="en-US" altLang="ja-JP" sz="1800" dirty="0"/>
          </a:p>
          <a:p>
            <a:pPr marL="0" indent="0">
              <a:buNone/>
            </a:pPr>
            <a:r>
              <a:rPr lang="ja-JP" altLang="en-US" sz="1800"/>
              <a:t>・一律での評価は難しく，タスク内でもパラメータの変動が考えられる　</a:t>
            </a:r>
            <a:endParaRPr lang="en-US" altLang="ja-JP" sz="1800" dirty="0"/>
          </a:p>
          <a:p>
            <a:pPr marL="0" indent="0">
              <a:buNone/>
            </a:pPr>
            <a:endParaRPr lang="en-US" altLang="ja-JP" sz="1800" dirty="0"/>
          </a:p>
        </p:txBody>
      </p:sp>
      <p:pic>
        <p:nvPicPr>
          <p:cNvPr id="5" name="図 4" descr="グラフ, 折れ線グラフ&#10;&#10;自動的に生成された説明">
            <a:extLst>
              <a:ext uri="{FF2B5EF4-FFF2-40B4-BE49-F238E27FC236}">
                <a16:creationId xmlns:a16="http://schemas.microsoft.com/office/drawing/2014/main" id="{1AC21918-2C59-7644-A84C-37CBB460106B}"/>
              </a:ext>
            </a:extLst>
          </p:cNvPr>
          <p:cNvPicPr>
            <a:picLocks noChangeAspect="1"/>
          </p:cNvPicPr>
          <p:nvPr/>
        </p:nvPicPr>
        <p:blipFill rotWithShape="1">
          <a:blip r:embed="rId2"/>
          <a:srcRect b="18366"/>
          <a:stretch/>
        </p:blipFill>
        <p:spPr>
          <a:xfrm>
            <a:off x="95598" y="1021858"/>
            <a:ext cx="2823640" cy="1770165"/>
          </a:xfrm>
          <a:prstGeom prst="rect">
            <a:avLst/>
          </a:prstGeom>
        </p:spPr>
      </p:pic>
      <p:pic>
        <p:nvPicPr>
          <p:cNvPr id="7" name="図 6">
            <a:extLst>
              <a:ext uri="{FF2B5EF4-FFF2-40B4-BE49-F238E27FC236}">
                <a16:creationId xmlns:a16="http://schemas.microsoft.com/office/drawing/2014/main" id="{C791BDB3-49F4-1546-824D-E51D220268FB}"/>
              </a:ext>
            </a:extLst>
          </p:cNvPr>
          <p:cNvPicPr>
            <a:picLocks noChangeAspect="1"/>
          </p:cNvPicPr>
          <p:nvPr/>
        </p:nvPicPr>
        <p:blipFill>
          <a:blip r:embed="rId3"/>
          <a:srcRect t="1582" b="1582"/>
          <a:stretch/>
        </p:blipFill>
        <p:spPr>
          <a:xfrm>
            <a:off x="2919238" y="1021858"/>
            <a:ext cx="3041055" cy="1770165"/>
          </a:xfrm>
          <a:prstGeom prst="rect">
            <a:avLst/>
          </a:prstGeom>
        </p:spPr>
      </p:pic>
      <p:pic>
        <p:nvPicPr>
          <p:cNvPr id="8" name="図 7">
            <a:extLst>
              <a:ext uri="{FF2B5EF4-FFF2-40B4-BE49-F238E27FC236}">
                <a16:creationId xmlns:a16="http://schemas.microsoft.com/office/drawing/2014/main" id="{13F24EFA-9837-D04B-AEA3-DB2690B2F0DF}"/>
              </a:ext>
            </a:extLst>
          </p:cNvPr>
          <p:cNvPicPr>
            <a:picLocks noChangeAspect="1"/>
          </p:cNvPicPr>
          <p:nvPr/>
        </p:nvPicPr>
        <p:blipFill>
          <a:blip r:embed="rId4"/>
          <a:srcRect t="1582" b="1582"/>
          <a:stretch/>
        </p:blipFill>
        <p:spPr>
          <a:xfrm>
            <a:off x="5968428" y="1021858"/>
            <a:ext cx="3041055" cy="1770165"/>
          </a:xfrm>
          <a:prstGeom prst="rect">
            <a:avLst/>
          </a:prstGeom>
        </p:spPr>
      </p:pic>
      <p:pic>
        <p:nvPicPr>
          <p:cNvPr id="11" name="図 10">
            <a:extLst>
              <a:ext uri="{FF2B5EF4-FFF2-40B4-BE49-F238E27FC236}">
                <a16:creationId xmlns:a16="http://schemas.microsoft.com/office/drawing/2014/main" id="{1F1D3564-D965-1E41-AF19-7CF5231229E1}"/>
              </a:ext>
            </a:extLst>
          </p:cNvPr>
          <p:cNvPicPr>
            <a:picLocks noChangeAspect="1"/>
          </p:cNvPicPr>
          <p:nvPr/>
        </p:nvPicPr>
        <p:blipFill>
          <a:blip r:embed="rId5"/>
          <a:srcRect l="1920" r="1920"/>
          <a:stretch/>
        </p:blipFill>
        <p:spPr>
          <a:xfrm>
            <a:off x="95598" y="2917752"/>
            <a:ext cx="2831775" cy="1770165"/>
          </a:xfrm>
          <a:prstGeom prst="rect">
            <a:avLst/>
          </a:prstGeom>
        </p:spPr>
      </p:pic>
      <p:pic>
        <p:nvPicPr>
          <p:cNvPr id="14" name="図 13">
            <a:extLst>
              <a:ext uri="{FF2B5EF4-FFF2-40B4-BE49-F238E27FC236}">
                <a16:creationId xmlns:a16="http://schemas.microsoft.com/office/drawing/2014/main" id="{E8CDB4AA-5918-5443-B3A5-FB608B673EF1}"/>
              </a:ext>
            </a:extLst>
          </p:cNvPr>
          <p:cNvPicPr>
            <a:picLocks noChangeAspect="1"/>
          </p:cNvPicPr>
          <p:nvPr/>
        </p:nvPicPr>
        <p:blipFill>
          <a:blip r:embed="rId6"/>
          <a:srcRect t="1582" b="1582"/>
          <a:stretch/>
        </p:blipFill>
        <p:spPr>
          <a:xfrm>
            <a:off x="2927373" y="2917752"/>
            <a:ext cx="3041055" cy="1770165"/>
          </a:xfrm>
          <a:prstGeom prst="rect">
            <a:avLst/>
          </a:prstGeom>
        </p:spPr>
      </p:pic>
      <p:pic>
        <p:nvPicPr>
          <p:cNvPr id="15" name="図 14">
            <a:extLst>
              <a:ext uri="{FF2B5EF4-FFF2-40B4-BE49-F238E27FC236}">
                <a16:creationId xmlns:a16="http://schemas.microsoft.com/office/drawing/2014/main" id="{46B163A8-350D-F74C-9C3C-026EF526AB09}"/>
              </a:ext>
            </a:extLst>
          </p:cNvPr>
          <p:cNvPicPr>
            <a:picLocks noChangeAspect="1"/>
          </p:cNvPicPr>
          <p:nvPr/>
        </p:nvPicPr>
        <p:blipFill>
          <a:blip r:embed="rId7"/>
          <a:srcRect t="1582" b="1582"/>
          <a:stretch/>
        </p:blipFill>
        <p:spPr>
          <a:xfrm>
            <a:off x="5968428" y="2917751"/>
            <a:ext cx="3041055" cy="1770165"/>
          </a:xfrm>
          <a:prstGeom prst="rect">
            <a:avLst/>
          </a:prstGeom>
        </p:spPr>
      </p:pic>
    </p:spTree>
    <p:extLst>
      <p:ext uri="{BB962C8B-B14F-4D97-AF65-F5344CB8AC3E}">
        <p14:creationId xmlns:p14="http://schemas.microsoft.com/office/powerpoint/2010/main" val="2374078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A56B4D-B2D8-824F-A096-F75D41B32A1A}"/>
              </a:ext>
            </a:extLst>
          </p:cNvPr>
          <p:cNvSpPr>
            <a:spLocks noGrp="1"/>
          </p:cNvSpPr>
          <p:nvPr>
            <p:ph type="title"/>
          </p:nvPr>
        </p:nvSpPr>
        <p:spPr/>
        <p:txBody>
          <a:bodyPr/>
          <a:lstStyle/>
          <a:p>
            <a:r>
              <a:rPr kumimoji="1" lang="ja-JP" altLang="en-US"/>
              <a:t>指標の個別評価まとめ</a:t>
            </a:r>
          </a:p>
        </p:txBody>
      </p:sp>
      <p:sp>
        <p:nvSpPr>
          <p:cNvPr id="3" name="コンテンツ プレースホルダー 2">
            <a:extLst>
              <a:ext uri="{FF2B5EF4-FFF2-40B4-BE49-F238E27FC236}">
                <a16:creationId xmlns:a16="http://schemas.microsoft.com/office/drawing/2014/main" id="{69954C2B-F71F-BA4F-B3BD-D18B9C394BC1}"/>
              </a:ext>
            </a:extLst>
          </p:cNvPr>
          <p:cNvSpPr>
            <a:spLocks noGrp="1"/>
          </p:cNvSpPr>
          <p:nvPr>
            <p:ph idx="1"/>
          </p:nvPr>
        </p:nvSpPr>
        <p:spPr/>
        <p:txBody>
          <a:bodyPr>
            <a:normAutofit/>
          </a:bodyPr>
          <a:lstStyle/>
          <a:p>
            <a:pPr marL="0" indent="0">
              <a:buNone/>
            </a:pPr>
            <a:endParaRPr lang="en-US" altLang="ja-JP" sz="2000" dirty="0"/>
          </a:p>
          <a:p>
            <a:pPr marL="0" indent="0">
              <a:buNone/>
            </a:pPr>
            <a:r>
              <a:rPr kumimoji="1" lang="ja-JP" altLang="en-US" sz="2000"/>
              <a:t>・主観指標，行動指標は予想と一致</a:t>
            </a:r>
            <a:endParaRPr kumimoji="1" lang="en-US" altLang="ja-JP" sz="2000" dirty="0"/>
          </a:p>
          <a:p>
            <a:pPr marL="0" indent="0">
              <a:buNone/>
            </a:pPr>
            <a:r>
              <a:rPr lang="ja-JP" altLang="en-US" sz="2000"/>
              <a:t>　→主観評価の結果より，実験の条件設定は妥当とした．</a:t>
            </a:r>
            <a:endParaRPr lang="en-US" altLang="ja-JP" sz="2000" dirty="0"/>
          </a:p>
          <a:p>
            <a:pPr marL="0" indent="0">
              <a:buNone/>
            </a:pPr>
            <a:r>
              <a:rPr kumimoji="1" lang="ja-JP" altLang="en-US" sz="2000"/>
              <a:t>　→行動指標の結果より，不快情動はタスクの遂行能力を低下させると</a:t>
            </a:r>
            <a:endParaRPr kumimoji="1" lang="en-US" altLang="ja-JP" sz="2000" dirty="0"/>
          </a:p>
          <a:p>
            <a:pPr marL="0" indent="0">
              <a:buNone/>
            </a:pPr>
            <a:r>
              <a:rPr lang="ja-JP" altLang="en-US" sz="2000"/>
              <a:t>　　考えられる．</a:t>
            </a:r>
            <a:endParaRPr lang="en-US" altLang="ja-JP" sz="2000" dirty="0"/>
          </a:p>
          <a:p>
            <a:pPr marL="0" indent="0">
              <a:buNone/>
            </a:pPr>
            <a:endParaRPr kumimoji="1" lang="en-US" altLang="ja-JP" sz="2000" dirty="0"/>
          </a:p>
          <a:p>
            <a:pPr marL="0" indent="0">
              <a:buNone/>
            </a:pPr>
            <a:r>
              <a:rPr lang="ja-JP" altLang="en-US" sz="2000"/>
              <a:t>・生理指標はあまり結果に一貫性がなく，個別にみてもバラバラ</a:t>
            </a:r>
            <a:endParaRPr lang="en-US" altLang="ja-JP" sz="2000" dirty="0"/>
          </a:p>
          <a:p>
            <a:pPr marL="0" indent="0">
              <a:buNone/>
            </a:pPr>
            <a:r>
              <a:rPr kumimoji="1" lang="ja-JP" altLang="en-US" sz="2000"/>
              <a:t>　→変化の傾向には個人差があり，一律に評価するのは難しい．</a:t>
            </a:r>
            <a:endParaRPr kumimoji="1" lang="en-US" altLang="ja-JP" sz="2000" dirty="0"/>
          </a:p>
          <a:p>
            <a:pPr marL="0" indent="0">
              <a:buNone/>
            </a:pPr>
            <a:r>
              <a:rPr lang="ja-JP" altLang="en-US" sz="2000"/>
              <a:t>　→タスク内でも変動が考えられる．</a:t>
            </a:r>
            <a:endParaRPr lang="en-US" altLang="ja-JP" sz="2000" dirty="0"/>
          </a:p>
          <a:p>
            <a:pPr marL="0" indent="0">
              <a:buNone/>
            </a:pPr>
            <a:endParaRPr kumimoji="1" lang="en-US" altLang="ja-JP" sz="2000" dirty="0"/>
          </a:p>
          <a:p>
            <a:pPr marL="0" indent="0">
              <a:buNone/>
            </a:pPr>
            <a:r>
              <a:rPr lang="ja-JP" altLang="en-US" sz="2000"/>
              <a:t>⇨</a:t>
            </a:r>
            <a:r>
              <a:rPr lang="ja-JP" altLang="en-US" sz="2000" b="1">
                <a:solidFill>
                  <a:srgbClr val="C00000"/>
                </a:solidFill>
              </a:rPr>
              <a:t>正答率の時系列変化と各パラメータの時系列変化について検討</a:t>
            </a:r>
            <a:endParaRPr lang="en-US" altLang="ja-JP" sz="2000" b="1" dirty="0">
              <a:solidFill>
                <a:srgbClr val="C00000"/>
              </a:solidFill>
            </a:endParaRPr>
          </a:p>
          <a:p>
            <a:pPr marL="0" indent="0">
              <a:buNone/>
            </a:pPr>
            <a:r>
              <a:rPr kumimoji="1" lang="ja-JP" altLang="en-US" sz="2000" b="1">
                <a:solidFill>
                  <a:srgbClr val="C00000"/>
                </a:solidFill>
              </a:rPr>
              <a:t>　</a:t>
            </a:r>
            <a:r>
              <a:rPr kumimoji="1" lang="ja-JP" altLang="en-US" sz="2000"/>
              <a:t>・</a:t>
            </a:r>
            <a:r>
              <a:rPr kumimoji="1" lang="en-US" altLang="ja-JP" sz="2000" dirty="0"/>
              <a:t>60</a:t>
            </a:r>
            <a:r>
              <a:rPr kumimoji="1" lang="ja-JP" altLang="en-US" sz="2000"/>
              <a:t>秒ごとのパラメータと正答率の数値を被験者ごとに</a:t>
            </a:r>
            <a:r>
              <a:rPr lang="ja-JP" altLang="en-US" sz="2000"/>
              <a:t>検討</a:t>
            </a:r>
            <a:endParaRPr kumimoji="1" lang="ja-JP" altLang="en-US" sz="2000" b="1">
              <a:solidFill>
                <a:srgbClr val="C00000"/>
              </a:solidFill>
            </a:endParaRPr>
          </a:p>
        </p:txBody>
      </p:sp>
    </p:spTree>
    <p:extLst>
      <p:ext uri="{BB962C8B-B14F-4D97-AF65-F5344CB8AC3E}">
        <p14:creationId xmlns:p14="http://schemas.microsoft.com/office/powerpoint/2010/main" val="477341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42C95E-446A-5F41-B9DA-E5632DA350EF}"/>
              </a:ext>
            </a:extLst>
          </p:cNvPr>
          <p:cNvSpPr>
            <a:spLocks noGrp="1"/>
          </p:cNvSpPr>
          <p:nvPr>
            <p:ph type="title"/>
          </p:nvPr>
        </p:nvSpPr>
        <p:spPr/>
        <p:txBody>
          <a:bodyPr>
            <a:normAutofit/>
          </a:bodyPr>
          <a:lstStyle/>
          <a:p>
            <a:r>
              <a:rPr kumimoji="1" lang="ja-JP" altLang="en-US" sz="2800"/>
              <a:t>被験者ごとの正答率と各パラメータの散布図</a:t>
            </a:r>
          </a:p>
        </p:txBody>
      </p:sp>
      <p:sp>
        <p:nvSpPr>
          <p:cNvPr id="3" name="コンテンツ プレースホルダー 2">
            <a:extLst>
              <a:ext uri="{FF2B5EF4-FFF2-40B4-BE49-F238E27FC236}">
                <a16:creationId xmlns:a16="http://schemas.microsoft.com/office/drawing/2014/main" id="{0E6E2BC2-5B11-0245-A408-2D9A214EB5CA}"/>
              </a:ext>
            </a:extLst>
          </p:cNvPr>
          <p:cNvSpPr>
            <a:spLocks noGrp="1"/>
          </p:cNvSpPr>
          <p:nvPr>
            <p:ph idx="1"/>
          </p:nvPr>
        </p:nvSpPr>
        <p:spPr>
          <a:xfrm>
            <a:off x="262890" y="1188720"/>
            <a:ext cx="8698230" cy="5669280"/>
          </a:xfrm>
        </p:spPr>
        <p:txBody>
          <a:bodyPr>
            <a:normAutofit/>
          </a:bodyPr>
          <a:lstStyle/>
          <a:p>
            <a:pPr marL="0" indent="0">
              <a:buNone/>
            </a:pPr>
            <a:r>
              <a:rPr kumimoji="1" lang="ja-JP" altLang="en-US" sz="1800"/>
              <a:t>被験者</a:t>
            </a:r>
            <a:r>
              <a:rPr kumimoji="1" lang="en-US" altLang="ja-JP" sz="1800" dirty="0"/>
              <a:t>E</a:t>
            </a:r>
          </a:p>
          <a:p>
            <a:pPr marL="0" indent="0">
              <a:buNone/>
            </a:pPr>
            <a:endParaRPr lang="en-US" altLang="ja-JP" sz="1800" dirty="0"/>
          </a:p>
          <a:p>
            <a:pPr marL="0" indent="0">
              <a:buNone/>
            </a:pPr>
            <a:endParaRPr kumimoji="1" lang="en-US" altLang="ja-JP" sz="1800" dirty="0"/>
          </a:p>
          <a:p>
            <a:pPr marL="0" indent="0">
              <a:buNone/>
            </a:pPr>
            <a:r>
              <a:rPr lang="ja-JP" altLang="en-US" sz="1800"/>
              <a:t>被験者</a:t>
            </a:r>
            <a:r>
              <a:rPr lang="en-US" altLang="ja-JP" sz="1800" dirty="0"/>
              <a:t>F</a:t>
            </a:r>
          </a:p>
          <a:p>
            <a:pPr marL="0" indent="0">
              <a:buNone/>
            </a:pPr>
            <a:endParaRPr kumimoji="1" lang="en-US" altLang="ja-JP" sz="1800" dirty="0"/>
          </a:p>
          <a:p>
            <a:pPr marL="0" indent="0">
              <a:buNone/>
            </a:pPr>
            <a:endParaRPr lang="en-US" altLang="ja-JP" sz="1800" dirty="0"/>
          </a:p>
          <a:p>
            <a:pPr marL="0" indent="0">
              <a:buNone/>
            </a:pPr>
            <a:r>
              <a:rPr kumimoji="1" lang="ja-JP" altLang="en-US" sz="1800"/>
              <a:t>被験者</a:t>
            </a:r>
            <a:r>
              <a:rPr kumimoji="1" lang="en-US" altLang="ja-JP" sz="1800" dirty="0"/>
              <a:t>G</a:t>
            </a:r>
          </a:p>
          <a:p>
            <a:pPr marL="0" indent="0">
              <a:buNone/>
            </a:pPr>
            <a:endParaRPr lang="en-US" altLang="ja-JP" sz="1800" dirty="0"/>
          </a:p>
          <a:p>
            <a:pPr marL="0" indent="0">
              <a:buNone/>
            </a:pPr>
            <a:endParaRPr kumimoji="1" lang="en-US" altLang="ja-JP" sz="1800" dirty="0"/>
          </a:p>
          <a:p>
            <a:pPr marL="0" indent="0">
              <a:buNone/>
            </a:pPr>
            <a:r>
              <a:rPr lang="ja-JP" altLang="en-US" sz="1800"/>
              <a:t>被験者</a:t>
            </a:r>
            <a:r>
              <a:rPr lang="en-US" altLang="ja-JP" sz="1800" dirty="0"/>
              <a:t>H</a:t>
            </a:r>
          </a:p>
          <a:p>
            <a:pPr marL="0" indent="0">
              <a:buNone/>
            </a:pPr>
            <a:endParaRPr kumimoji="1" lang="en-US" altLang="ja-JP" sz="1800" dirty="0"/>
          </a:p>
          <a:p>
            <a:pPr marL="0" indent="0">
              <a:buNone/>
            </a:pPr>
            <a:endParaRPr lang="en-US" altLang="ja-JP" sz="1800" dirty="0"/>
          </a:p>
          <a:p>
            <a:pPr marL="0" indent="0">
              <a:buNone/>
            </a:pPr>
            <a:r>
              <a:rPr kumimoji="1" lang="ja-JP" altLang="en-US" sz="1800"/>
              <a:t>被験者</a:t>
            </a:r>
            <a:r>
              <a:rPr kumimoji="1" lang="en-US" altLang="ja-JP" sz="1800" dirty="0"/>
              <a:t>I</a:t>
            </a:r>
          </a:p>
        </p:txBody>
      </p:sp>
      <p:pic>
        <p:nvPicPr>
          <p:cNvPr id="4" name="図 3" descr="テキスト, ホワイトボード&#10;&#10;自動的に生成された説明">
            <a:extLst>
              <a:ext uri="{FF2B5EF4-FFF2-40B4-BE49-F238E27FC236}">
                <a16:creationId xmlns:a16="http://schemas.microsoft.com/office/drawing/2014/main" id="{3A914B36-ADAF-9548-AB3C-A4195D9D16A0}"/>
              </a:ext>
            </a:extLst>
          </p:cNvPr>
          <p:cNvPicPr>
            <a:picLocks noChangeAspect="1"/>
          </p:cNvPicPr>
          <p:nvPr/>
        </p:nvPicPr>
        <p:blipFill rotWithShape="1">
          <a:blip r:embed="rId2"/>
          <a:srcRect t="83333" r="13281"/>
          <a:stretch/>
        </p:blipFill>
        <p:spPr>
          <a:xfrm>
            <a:off x="1416375" y="1058610"/>
            <a:ext cx="7003725" cy="1271116"/>
          </a:xfrm>
          <a:prstGeom prst="rect">
            <a:avLst/>
          </a:prstGeom>
        </p:spPr>
      </p:pic>
      <p:pic>
        <p:nvPicPr>
          <p:cNvPr id="5" name="図 4">
            <a:extLst>
              <a:ext uri="{FF2B5EF4-FFF2-40B4-BE49-F238E27FC236}">
                <a16:creationId xmlns:a16="http://schemas.microsoft.com/office/drawing/2014/main" id="{CA523B78-606C-7B42-91BA-EF0948821354}"/>
              </a:ext>
            </a:extLst>
          </p:cNvPr>
          <p:cNvPicPr>
            <a:picLocks noChangeAspect="1"/>
          </p:cNvPicPr>
          <p:nvPr/>
        </p:nvPicPr>
        <p:blipFill rotWithShape="1">
          <a:blip r:embed="rId3"/>
          <a:srcRect l="-67" r="-230"/>
          <a:stretch/>
        </p:blipFill>
        <p:spPr>
          <a:xfrm>
            <a:off x="1416375" y="3393710"/>
            <a:ext cx="7003725" cy="1101953"/>
          </a:xfrm>
          <a:prstGeom prst="rect">
            <a:avLst/>
          </a:prstGeom>
        </p:spPr>
      </p:pic>
      <p:pic>
        <p:nvPicPr>
          <p:cNvPr id="9" name="図 8" descr="テキスト, ホワイトボード&#10;&#10;自動的に生成された説明">
            <a:extLst>
              <a:ext uri="{FF2B5EF4-FFF2-40B4-BE49-F238E27FC236}">
                <a16:creationId xmlns:a16="http://schemas.microsoft.com/office/drawing/2014/main" id="{66212023-04B9-D543-883F-5727903766B1}"/>
              </a:ext>
            </a:extLst>
          </p:cNvPr>
          <p:cNvPicPr>
            <a:picLocks noChangeAspect="1"/>
          </p:cNvPicPr>
          <p:nvPr/>
        </p:nvPicPr>
        <p:blipFill rotWithShape="1">
          <a:blip r:embed="rId4"/>
          <a:srcRect t="84133" r="14227"/>
          <a:stretch/>
        </p:blipFill>
        <p:spPr>
          <a:xfrm>
            <a:off x="1416375" y="2315477"/>
            <a:ext cx="7003725" cy="1055659"/>
          </a:xfrm>
          <a:prstGeom prst="rect">
            <a:avLst/>
          </a:prstGeom>
        </p:spPr>
      </p:pic>
      <p:pic>
        <p:nvPicPr>
          <p:cNvPr id="10" name="図 9" descr="部屋, 建物, 大きい, 開く が含まれている画像&#10;&#10;自動的に生成された説明">
            <a:extLst>
              <a:ext uri="{FF2B5EF4-FFF2-40B4-BE49-F238E27FC236}">
                <a16:creationId xmlns:a16="http://schemas.microsoft.com/office/drawing/2014/main" id="{EAEBBD96-E40D-8B4D-9579-D8B09449269A}"/>
              </a:ext>
            </a:extLst>
          </p:cNvPr>
          <p:cNvPicPr>
            <a:picLocks noChangeAspect="1"/>
          </p:cNvPicPr>
          <p:nvPr/>
        </p:nvPicPr>
        <p:blipFill rotWithShape="1">
          <a:blip r:embed="rId5"/>
          <a:srcRect t="84074" r="13465"/>
          <a:stretch/>
        </p:blipFill>
        <p:spPr>
          <a:xfrm>
            <a:off x="1416375" y="4573286"/>
            <a:ext cx="7003725" cy="1118943"/>
          </a:xfrm>
          <a:prstGeom prst="rect">
            <a:avLst/>
          </a:prstGeom>
        </p:spPr>
      </p:pic>
      <p:pic>
        <p:nvPicPr>
          <p:cNvPr id="12" name="図 11" descr="テキスト, ホワイトボード&#10;&#10;自動的に生成された説明">
            <a:extLst>
              <a:ext uri="{FF2B5EF4-FFF2-40B4-BE49-F238E27FC236}">
                <a16:creationId xmlns:a16="http://schemas.microsoft.com/office/drawing/2014/main" id="{A9C8BF02-BD9B-4A45-ADAD-1C5D1F916E23}"/>
              </a:ext>
            </a:extLst>
          </p:cNvPr>
          <p:cNvPicPr>
            <a:picLocks noChangeAspect="1"/>
          </p:cNvPicPr>
          <p:nvPr/>
        </p:nvPicPr>
        <p:blipFill rotWithShape="1">
          <a:blip r:embed="rId6"/>
          <a:srcRect t="83001" r="13846"/>
          <a:stretch/>
        </p:blipFill>
        <p:spPr>
          <a:xfrm>
            <a:off x="1416376" y="5692229"/>
            <a:ext cx="7003724" cy="1165771"/>
          </a:xfrm>
          <a:prstGeom prst="rect">
            <a:avLst/>
          </a:prstGeom>
        </p:spPr>
      </p:pic>
    </p:spTree>
    <p:extLst>
      <p:ext uri="{BB962C8B-B14F-4D97-AF65-F5344CB8AC3E}">
        <p14:creationId xmlns:p14="http://schemas.microsoft.com/office/powerpoint/2010/main" val="379441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9C50D9-0204-5C4C-A3F7-10ED880B77C5}"/>
              </a:ext>
            </a:extLst>
          </p:cNvPr>
          <p:cNvSpPr>
            <a:spLocks noGrp="1"/>
          </p:cNvSpPr>
          <p:nvPr>
            <p:ph type="title"/>
          </p:nvPr>
        </p:nvSpPr>
        <p:spPr/>
        <p:txBody>
          <a:bodyPr>
            <a:normAutofit/>
          </a:bodyPr>
          <a:lstStyle/>
          <a:p>
            <a:r>
              <a:rPr lang="ja-JP" altLang="en-US" sz="3200"/>
              <a:t>被験者ごとの正答率と各パラメータの散布図</a:t>
            </a:r>
            <a:endParaRPr kumimoji="1" lang="ja-JP" altLang="en-US" sz="3200"/>
          </a:p>
        </p:txBody>
      </p:sp>
      <p:sp>
        <p:nvSpPr>
          <p:cNvPr id="3" name="コンテンツ プレースホルダー 2">
            <a:extLst>
              <a:ext uri="{FF2B5EF4-FFF2-40B4-BE49-F238E27FC236}">
                <a16:creationId xmlns:a16="http://schemas.microsoft.com/office/drawing/2014/main" id="{F1093C52-E31B-DC4D-8DF1-4A6CFA8B9C3A}"/>
              </a:ext>
            </a:extLst>
          </p:cNvPr>
          <p:cNvSpPr>
            <a:spLocks noGrp="1"/>
          </p:cNvSpPr>
          <p:nvPr>
            <p:ph idx="1"/>
          </p:nvPr>
        </p:nvSpPr>
        <p:spPr/>
        <p:txBody>
          <a:bodyPr>
            <a:normAutofit/>
          </a:bodyPr>
          <a:lstStyle/>
          <a:p>
            <a:pPr marL="0" indent="0">
              <a:buNone/>
            </a:pPr>
            <a:r>
              <a:rPr lang="ja-JP" altLang="en-US" sz="1800"/>
              <a:t>○考察</a:t>
            </a:r>
            <a:endParaRPr lang="en-US" altLang="ja-JP" sz="1800" dirty="0"/>
          </a:p>
          <a:p>
            <a:pPr marL="0" indent="0">
              <a:buNone/>
            </a:pPr>
            <a:r>
              <a:rPr kumimoji="1" lang="ja-JP" altLang="en-US" sz="1800"/>
              <a:t>・被験者ごとに数値の違いが大きい</a:t>
            </a:r>
            <a:endParaRPr kumimoji="1" lang="en-US" altLang="ja-JP" sz="1800" dirty="0"/>
          </a:p>
          <a:p>
            <a:pPr marL="0" indent="0">
              <a:buNone/>
            </a:pPr>
            <a:endParaRPr kumimoji="1" lang="en-US" altLang="ja-JP" sz="1800" dirty="0"/>
          </a:p>
          <a:p>
            <a:pPr marL="0" indent="0">
              <a:buNone/>
            </a:pPr>
            <a:r>
              <a:rPr lang="ja-JP" altLang="en-US" sz="1800"/>
              <a:t>・</a:t>
            </a:r>
            <a:r>
              <a:rPr lang="en-US" altLang="ja-JP" sz="1800" dirty="0"/>
              <a:t>SDNN</a:t>
            </a:r>
            <a:r>
              <a:rPr lang="ja-JP" altLang="en-US" sz="1800"/>
              <a:t>，</a:t>
            </a:r>
            <a:r>
              <a:rPr lang="en-US" altLang="ja-JP" sz="1800" dirty="0"/>
              <a:t>pNN50</a:t>
            </a:r>
            <a:r>
              <a:rPr lang="ja-JP" altLang="en-US" sz="1800"/>
              <a:t>，</a:t>
            </a:r>
            <a:r>
              <a:rPr lang="en-US" altLang="ja-JP" sz="1800" dirty="0"/>
              <a:t>RMSSD</a:t>
            </a:r>
            <a:r>
              <a:rPr lang="ja-JP" altLang="en-US" sz="1800"/>
              <a:t>において同傾向</a:t>
            </a:r>
            <a:endParaRPr lang="en-US" altLang="ja-JP" sz="1800" dirty="0"/>
          </a:p>
          <a:p>
            <a:pPr marL="0" indent="0">
              <a:buNone/>
            </a:pPr>
            <a:r>
              <a:rPr kumimoji="1" lang="ja-JP" altLang="en-US" sz="1800"/>
              <a:t>　→</a:t>
            </a:r>
            <a:r>
              <a:rPr kumimoji="1" lang="ja-JP" altLang="en-US" sz="1800">
                <a:solidFill>
                  <a:schemeClr val="accent1"/>
                </a:solidFill>
              </a:rPr>
              <a:t>副交感神経亢進時のパフォーマンスは比較的一貫して良い</a:t>
            </a:r>
            <a:r>
              <a:rPr kumimoji="1" lang="ja-JP" altLang="en-US" sz="1800"/>
              <a:t>が，</a:t>
            </a:r>
            <a:endParaRPr kumimoji="1" lang="en-US" altLang="ja-JP" sz="1800" dirty="0"/>
          </a:p>
          <a:p>
            <a:pPr marL="0" indent="0">
              <a:buNone/>
            </a:pPr>
            <a:r>
              <a:rPr lang="ja-JP" altLang="en-US" sz="1800"/>
              <a:t>　　</a:t>
            </a:r>
            <a:r>
              <a:rPr kumimoji="1" lang="ja-JP" altLang="en-US" sz="1800">
                <a:solidFill>
                  <a:srgbClr val="C00000"/>
                </a:solidFill>
              </a:rPr>
              <a:t>交感神経が亢進すると</a:t>
            </a:r>
            <a:r>
              <a:rPr lang="ja-JP" altLang="en-US" sz="1800">
                <a:solidFill>
                  <a:srgbClr val="C00000"/>
                </a:solidFill>
              </a:rPr>
              <a:t>良くなったり悪くなったりする</a:t>
            </a:r>
            <a:r>
              <a:rPr lang="ja-JP" altLang="en-US" sz="1800"/>
              <a:t>．</a:t>
            </a:r>
            <a:endParaRPr lang="en-US" altLang="ja-JP" sz="1800" dirty="0"/>
          </a:p>
          <a:p>
            <a:pPr marL="0" indent="0">
              <a:buNone/>
            </a:pPr>
            <a:r>
              <a:rPr lang="ja-JP" altLang="en-US" sz="1800"/>
              <a:t>　　先行研究においても，高い</a:t>
            </a:r>
            <a:r>
              <a:rPr lang="en-US" altLang="ja-JP" sz="1800" dirty="0"/>
              <a:t>RMSSD</a:t>
            </a:r>
            <a:r>
              <a:rPr lang="ja-JP" altLang="en-US" sz="1800"/>
              <a:t>と</a:t>
            </a:r>
            <a:r>
              <a:rPr lang="en-US" altLang="ja-JP" sz="1800" dirty="0"/>
              <a:t>SDNN</a:t>
            </a:r>
            <a:r>
              <a:rPr lang="ja-JP" altLang="en-US" sz="1800"/>
              <a:t>の場合には高パフォーマンスに</a:t>
            </a:r>
            <a:endParaRPr lang="en-US" altLang="ja-JP" sz="1800" dirty="0"/>
          </a:p>
          <a:p>
            <a:pPr marL="0" indent="0">
              <a:buNone/>
            </a:pPr>
            <a:r>
              <a:rPr lang="ja-JP" altLang="en-US" sz="1800"/>
              <a:t>　　なることが多く示されている．</a:t>
            </a:r>
            <a:endParaRPr lang="en-US" altLang="ja-JP" sz="1800" dirty="0"/>
          </a:p>
          <a:p>
            <a:pPr marL="0" indent="0">
              <a:buNone/>
            </a:pPr>
            <a:r>
              <a:rPr kumimoji="1" lang="ja-JP" altLang="en-US" sz="1800"/>
              <a:t>　→交感神経の亢進がパフォーマンスの向上に直結するとは限らず，</a:t>
            </a:r>
            <a:endParaRPr kumimoji="1" lang="en-US" altLang="ja-JP" sz="1800" dirty="0"/>
          </a:p>
          <a:p>
            <a:pPr marL="0" indent="0">
              <a:buNone/>
            </a:pPr>
            <a:r>
              <a:rPr lang="ja-JP" altLang="en-US" sz="1800"/>
              <a:t>　　</a:t>
            </a:r>
            <a:r>
              <a:rPr lang="ja-JP" altLang="en-US" sz="1800" b="1"/>
              <a:t>促進的な作用と減退的な作用があるのでは</a:t>
            </a:r>
            <a:r>
              <a:rPr lang="ja-JP" altLang="en-US" sz="1800"/>
              <a:t>ないか．</a:t>
            </a:r>
            <a:endParaRPr lang="en-US" altLang="ja-JP" sz="1800" dirty="0"/>
          </a:p>
          <a:p>
            <a:pPr marL="0" indent="0">
              <a:buNone/>
            </a:pPr>
            <a:endParaRPr lang="en-US" altLang="ja-JP" sz="1800" dirty="0"/>
          </a:p>
          <a:p>
            <a:pPr marL="0" indent="0">
              <a:buNone/>
            </a:pPr>
            <a:endParaRPr kumimoji="1" lang="en-US" altLang="ja-JP" sz="1800" dirty="0"/>
          </a:p>
          <a:p>
            <a:pPr marL="0" indent="0">
              <a:buNone/>
            </a:pPr>
            <a:endParaRPr kumimoji="1" lang="en-US" altLang="ja-JP" sz="1800" dirty="0"/>
          </a:p>
        </p:txBody>
      </p:sp>
    </p:spTree>
    <p:extLst>
      <p:ext uri="{BB962C8B-B14F-4D97-AF65-F5344CB8AC3E}">
        <p14:creationId xmlns:p14="http://schemas.microsoft.com/office/powerpoint/2010/main" val="4042439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C0AAB5-31FA-074D-8E64-FFE3E871BAD0}"/>
              </a:ext>
            </a:extLst>
          </p:cNvPr>
          <p:cNvSpPr>
            <a:spLocks noGrp="1"/>
          </p:cNvSpPr>
          <p:nvPr>
            <p:ph type="title"/>
          </p:nvPr>
        </p:nvSpPr>
        <p:spPr/>
        <p:txBody>
          <a:bodyPr/>
          <a:lstStyle/>
          <a:p>
            <a:r>
              <a:rPr kumimoji="1" lang="ja-JP" altLang="en-US"/>
              <a:t>今後</a:t>
            </a:r>
          </a:p>
        </p:txBody>
      </p:sp>
      <p:sp>
        <p:nvSpPr>
          <p:cNvPr id="3" name="コンテンツ プレースホルダー 2">
            <a:extLst>
              <a:ext uri="{FF2B5EF4-FFF2-40B4-BE49-F238E27FC236}">
                <a16:creationId xmlns:a16="http://schemas.microsoft.com/office/drawing/2014/main" id="{7DC36E33-9353-D541-939C-FB8808A3B46C}"/>
              </a:ext>
            </a:extLst>
          </p:cNvPr>
          <p:cNvSpPr>
            <a:spLocks noGrp="1"/>
          </p:cNvSpPr>
          <p:nvPr>
            <p:ph idx="1"/>
          </p:nvPr>
        </p:nvSpPr>
        <p:spPr/>
        <p:txBody>
          <a:bodyPr>
            <a:normAutofit/>
          </a:bodyPr>
          <a:lstStyle/>
          <a:p>
            <a:pPr marL="0" indent="0">
              <a:buNone/>
            </a:pPr>
            <a:r>
              <a:rPr lang="ja-JP" altLang="en-US" sz="2000"/>
              <a:t>○解析</a:t>
            </a:r>
            <a:endParaRPr lang="en-US" altLang="ja-JP" sz="2000" dirty="0"/>
          </a:p>
          <a:p>
            <a:pPr marL="0" indent="0">
              <a:buNone/>
            </a:pPr>
            <a:r>
              <a:rPr lang="ja-JP" altLang="en-US" sz="2000"/>
              <a:t>・パフォーマンスと自律神経活動の関係をどのように定量的に示すか</a:t>
            </a:r>
            <a:endParaRPr lang="en-US" altLang="ja-JP" sz="2000" dirty="0"/>
          </a:p>
          <a:p>
            <a:pPr marL="0" indent="0">
              <a:buNone/>
            </a:pPr>
            <a:r>
              <a:rPr lang="ja-JP" altLang="en-US" sz="2000"/>
              <a:t>・</a:t>
            </a:r>
            <a:r>
              <a:rPr lang="en-US" altLang="ja-JP" sz="2000" dirty="0"/>
              <a:t>EDA</a:t>
            </a:r>
            <a:r>
              <a:rPr lang="ja-JP" altLang="en-US" sz="2000"/>
              <a:t>の解析</a:t>
            </a:r>
            <a:endParaRPr lang="en-US" altLang="ja-JP" sz="2000" dirty="0"/>
          </a:p>
          <a:p>
            <a:pPr marL="0" indent="0">
              <a:buNone/>
            </a:pPr>
            <a:r>
              <a:rPr lang="ja-JP" altLang="en-US" sz="2000"/>
              <a:t>・交互作用が見られたもの指標の下位検定の検討</a:t>
            </a:r>
            <a:endParaRPr lang="en-US" altLang="ja-JP" sz="2000" dirty="0"/>
          </a:p>
          <a:p>
            <a:pPr marL="0" indent="0">
              <a:buNone/>
            </a:pPr>
            <a:endParaRPr lang="en-US" altLang="ja-JP" sz="2000" dirty="0"/>
          </a:p>
          <a:p>
            <a:pPr marL="0" indent="0">
              <a:buNone/>
            </a:pPr>
            <a:r>
              <a:rPr lang="ja-JP" altLang="en-US" sz="2000"/>
              <a:t>○実験</a:t>
            </a:r>
            <a:endParaRPr lang="en-US" altLang="ja-JP" sz="2000" dirty="0"/>
          </a:p>
        </p:txBody>
      </p:sp>
    </p:spTree>
    <p:extLst>
      <p:ext uri="{BB962C8B-B14F-4D97-AF65-F5344CB8AC3E}">
        <p14:creationId xmlns:p14="http://schemas.microsoft.com/office/powerpoint/2010/main" val="1162292585"/>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696</TotalTime>
  <Words>2356</Words>
  <Application>Microsoft Macintosh PowerPoint</Application>
  <PresentationFormat>画面に合わせる (4:3)</PresentationFormat>
  <Paragraphs>362</Paragraphs>
  <Slides>21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21</vt:i4>
      </vt:variant>
    </vt:vector>
  </HeadingPairs>
  <TitlesOfParts>
    <vt:vector size="25" baseType="lpstr">
      <vt:lpstr>Arial</vt:lpstr>
      <vt:lpstr>Calibri</vt:lpstr>
      <vt:lpstr>Calibri Light</vt:lpstr>
      <vt:lpstr>Office テーマ</vt:lpstr>
      <vt:lpstr>進捗報告</vt:lpstr>
      <vt:lpstr>報告</vt:lpstr>
      <vt:lpstr>実験概要</vt:lpstr>
      <vt:lpstr>実験詳細</vt:lpstr>
      <vt:lpstr>解析方針</vt:lpstr>
      <vt:lpstr>指標ごとの解析</vt:lpstr>
      <vt:lpstr>指標ごとの解析</vt:lpstr>
      <vt:lpstr>主観指標：VAS</vt:lpstr>
      <vt:lpstr>主観指標：TP</vt:lpstr>
      <vt:lpstr>主観指標：WWL</vt:lpstr>
      <vt:lpstr>指標ごとの解析</vt:lpstr>
      <vt:lpstr>行動指標：CA, 正答率</vt:lpstr>
      <vt:lpstr>指標ごとの解析</vt:lpstr>
      <vt:lpstr>生理指標：HR, pNN50</vt:lpstr>
      <vt:lpstr>生理指標：SDNN, RMSSD</vt:lpstr>
      <vt:lpstr>生理指標：LPS, CSI</vt:lpstr>
      <vt:lpstr>各パラメータの被験者ごとの評価</vt:lpstr>
      <vt:lpstr>指標の個別評価まとめ</vt:lpstr>
      <vt:lpstr>被験者ごとの正答率と各パラメータの散布図</vt:lpstr>
      <vt:lpstr>被験者ごとの正答率と各パラメータの散布図</vt:lpstr>
      <vt:lpstr>今後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dc:title>
  <dc:creator>高橋　宗汰</dc:creator>
  <cp:lastModifiedBy>高橋　宗汰</cp:lastModifiedBy>
  <cp:revision>36</cp:revision>
  <dcterms:created xsi:type="dcterms:W3CDTF">2021-01-05T04:41:49Z</dcterms:created>
  <dcterms:modified xsi:type="dcterms:W3CDTF">2021-01-06T09:25:30Z</dcterms:modified>
</cp:coreProperties>
</file>